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10.png"/><Relationship Id="rId9" Type="http://schemas.openxmlformats.org/officeDocument/2006/relationships/image" Target="../media/image11.png"/><Relationship Id="rId10" Type="http://schemas.openxmlformats.org/officeDocument/2006/relationships/image" Target="../media/image12.png"/><Relationship Id="rId11" Type="http://schemas.openxmlformats.org/officeDocument/2006/relationships/image" Target="../media/image13.png"/><Relationship Id="rId12" Type="http://schemas.openxmlformats.org/officeDocument/2006/relationships/image" Target="../media/image14.png"/><Relationship Id="rId13" Type="http://schemas.openxmlformats.org/officeDocument/2006/relationships/image" Target="../media/image1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Relationship Id="rId8" Type="http://schemas.openxmlformats.org/officeDocument/2006/relationships/image" Target="../media/image2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Relationship Id="rId7" Type="http://schemas.openxmlformats.org/officeDocument/2006/relationships/image" Target="../media/image27.png"/><Relationship Id="rId8" Type="http://schemas.openxmlformats.org/officeDocument/2006/relationships/image" Target="../media/image2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9.png"/><Relationship Id="rId4" Type="http://schemas.openxmlformats.org/officeDocument/2006/relationships/image" Target="../media/image30.png"/><Relationship Id="rId5" Type="http://schemas.openxmlformats.org/officeDocument/2006/relationships/image" Target="../media/image31.png"/><Relationship Id="rId6" Type="http://schemas.openxmlformats.org/officeDocument/2006/relationships/image" Target="../media/image32.png"/><Relationship Id="rId7" Type="http://schemas.openxmlformats.org/officeDocument/2006/relationships/image" Target="../media/image33.png"/><Relationship Id="rId8" Type="http://schemas.openxmlformats.org/officeDocument/2006/relationships/image" Target="../media/image34.png"/><Relationship Id="rId9" Type="http://schemas.openxmlformats.org/officeDocument/2006/relationships/image" Target="../media/image3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Relationship Id="rId4" Type="http://schemas.openxmlformats.org/officeDocument/2006/relationships/image" Target="../media/image38.png"/><Relationship Id="rId5" Type="http://schemas.openxmlformats.org/officeDocument/2006/relationships/image" Target="../media/image39.png"/><Relationship Id="rId6" Type="http://schemas.openxmlformats.org/officeDocument/2006/relationships/image" Target="../media/image40.png"/><Relationship Id="rId7" Type="http://schemas.openxmlformats.org/officeDocument/2006/relationships/image" Target="../media/image41.png"/><Relationship Id="rId8" Type="http://schemas.openxmlformats.org/officeDocument/2006/relationships/image" Target="../media/image42.png"/><Relationship Id="rId9" Type="http://schemas.openxmlformats.org/officeDocument/2006/relationships/image" Target="../media/image43.png"/><Relationship Id="rId10" Type="http://schemas.openxmlformats.org/officeDocument/2006/relationships/image" Target="../media/image2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4.png"/><Relationship Id="rId4" Type="http://schemas.openxmlformats.org/officeDocument/2006/relationships/image" Target="../media/image45.png"/><Relationship Id="rId5" Type="http://schemas.openxmlformats.org/officeDocument/2006/relationships/image" Target="../media/image46.png"/><Relationship Id="rId6" Type="http://schemas.openxmlformats.org/officeDocument/2006/relationships/image" Target="../media/image47.png"/><Relationship Id="rId7" Type="http://schemas.openxmlformats.org/officeDocument/2006/relationships/image" Target="../media/image48.png"/><Relationship Id="rId8" Type="http://schemas.openxmlformats.org/officeDocument/2006/relationships/image" Target="../media/image49.png"/><Relationship Id="rId9" Type="http://schemas.openxmlformats.org/officeDocument/2006/relationships/image" Target="../media/image50.png"/><Relationship Id="rId10" Type="http://schemas.openxmlformats.org/officeDocument/2006/relationships/image" Target="../media/image51.png"/><Relationship Id="rId11" Type="http://schemas.openxmlformats.org/officeDocument/2006/relationships/image" Target="../media/image2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2.png"/><Relationship Id="rId4" Type="http://schemas.openxmlformats.org/officeDocument/2006/relationships/image" Target="../media/image53.png"/><Relationship Id="rId5" Type="http://schemas.openxmlformats.org/officeDocument/2006/relationships/image" Target="../media/image54.png"/><Relationship Id="rId6" Type="http://schemas.openxmlformats.org/officeDocument/2006/relationships/image" Target="../media/image55.png"/><Relationship Id="rId7" Type="http://schemas.openxmlformats.org/officeDocument/2006/relationships/image" Target="../media/image56.png"/><Relationship Id="rId8" Type="http://schemas.openxmlformats.org/officeDocument/2006/relationships/image" Target="../media/image57.png"/><Relationship Id="rId9" Type="http://schemas.openxmlformats.org/officeDocument/2006/relationships/image" Target="../media/image58.png"/><Relationship Id="rId10" Type="http://schemas.openxmlformats.org/officeDocument/2006/relationships/image" Target="../media/image5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.png"/><Relationship Id="rId3" Type="http://schemas.openxmlformats.org/officeDocument/2006/relationships/image" Target="../media/image61.png"/><Relationship Id="rId4" Type="http://schemas.openxmlformats.org/officeDocument/2006/relationships/image" Target="../media/image62.png"/><Relationship Id="rId5" Type="http://schemas.openxmlformats.org/officeDocument/2006/relationships/image" Target="../media/image63.png"/><Relationship Id="rId6" Type="http://schemas.openxmlformats.org/officeDocument/2006/relationships/image" Target="../media/image64.png"/><Relationship Id="rId7" Type="http://schemas.openxmlformats.org/officeDocument/2006/relationships/image" Target="../media/image65.png"/><Relationship Id="rId8" Type="http://schemas.openxmlformats.org/officeDocument/2006/relationships/image" Target="../media/image11.png"/><Relationship Id="rId9" Type="http://schemas.openxmlformats.org/officeDocument/2006/relationships/image" Target="../media/image66.png"/><Relationship Id="rId10" Type="http://schemas.openxmlformats.org/officeDocument/2006/relationships/image" Target="../media/image67.png"/><Relationship Id="rId11" Type="http://schemas.openxmlformats.org/officeDocument/2006/relationships/image" Target="../media/image68.png"/><Relationship Id="rId12" Type="http://schemas.openxmlformats.org/officeDocument/2006/relationships/image" Target="../media/image69.png"/><Relationship Id="rId13" Type="http://schemas.openxmlformats.org/officeDocument/2006/relationships/image" Target="../media/image7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71.png"/><Relationship Id="rId6" Type="http://schemas.openxmlformats.org/officeDocument/2006/relationships/image" Target="../media/image72.png"/><Relationship Id="rId7" Type="http://schemas.openxmlformats.org/officeDocument/2006/relationships/image" Target="../media/image73.png"/><Relationship Id="rId8" Type="http://schemas.openxmlformats.org/officeDocument/2006/relationships/image" Target="../media/image2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4.png"/><Relationship Id="rId4" Type="http://schemas.openxmlformats.org/officeDocument/2006/relationships/image" Target="../media/image24.png"/><Relationship Id="rId5" Type="http://schemas.openxmlformats.org/officeDocument/2006/relationships/image" Target="../media/image75.png"/><Relationship Id="rId6" Type="http://schemas.openxmlformats.org/officeDocument/2006/relationships/image" Target="../media/image76.png"/><Relationship Id="rId7" Type="http://schemas.openxmlformats.org/officeDocument/2006/relationships/image" Target="../media/image77.png"/><Relationship Id="rId8" Type="http://schemas.openxmlformats.org/officeDocument/2006/relationships/image" Target="../media/image78.png"/><Relationship Id="rId9" Type="http://schemas.openxmlformats.org/officeDocument/2006/relationships/image" Target="../media/image7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9.png"/><Relationship Id="rId4" Type="http://schemas.openxmlformats.org/officeDocument/2006/relationships/image" Target="../media/image80.png"/><Relationship Id="rId5" Type="http://schemas.openxmlformats.org/officeDocument/2006/relationships/image" Target="../media/image81.png"/><Relationship Id="rId6" Type="http://schemas.openxmlformats.org/officeDocument/2006/relationships/image" Target="../media/image82.png"/><Relationship Id="rId7" Type="http://schemas.openxmlformats.org/officeDocument/2006/relationships/image" Target="../media/image83.png"/><Relationship Id="rId8" Type="http://schemas.openxmlformats.org/officeDocument/2006/relationships/image" Target="../media/image2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4.png"/><Relationship Id="rId4" Type="http://schemas.openxmlformats.org/officeDocument/2006/relationships/image" Target="../media/image85.png"/><Relationship Id="rId5" Type="http://schemas.openxmlformats.org/officeDocument/2006/relationships/image" Target="../media/image86.png"/><Relationship Id="rId6" Type="http://schemas.openxmlformats.org/officeDocument/2006/relationships/image" Target="../media/image87.png"/><Relationship Id="rId7" Type="http://schemas.openxmlformats.org/officeDocument/2006/relationships/image" Target="../media/image88.png"/><Relationship Id="rId8" Type="http://schemas.openxmlformats.org/officeDocument/2006/relationships/image" Target="../media/image89.png"/><Relationship Id="rId9" Type="http://schemas.openxmlformats.org/officeDocument/2006/relationships/image" Target="../media/image90.png"/><Relationship Id="rId10" Type="http://schemas.openxmlformats.org/officeDocument/2006/relationships/image" Target="../media/image91.png"/><Relationship Id="rId11" Type="http://schemas.openxmlformats.org/officeDocument/2006/relationships/image" Target="../media/image92.png"/><Relationship Id="rId12" Type="http://schemas.openxmlformats.org/officeDocument/2006/relationships/image" Target="../media/image93.png"/><Relationship Id="rId13" Type="http://schemas.openxmlformats.org/officeDocument/2006/relationships/image" Target="../media/image94.png"/><Relationship Id="rId14" Type="http://schemas.openxmlformats.org/officeDocument/2006/relationships/image" Target="../media/image95.png"/><Relationship Id="rId15" Type="http://schemas.openxmlformats.org/officeDocument/2006/relationships/image" Target="../media/image96.png"/><Relationship Id="rId16" Type="http://schemas.openxmlformats.org/officeDocument/2006/relationships/image" Target="../media/image97.png"/><Relationship Id="rId17" Type="http://schemas.openxmlformats.org/officeDocument/2006/relationships/image" Target="../media/image98.png"/><Relationship Id="rId18" Type="http://schemas.openxmlformats.org/officeDocument/2006/relationships/image" Target="../media/image99.png"/><Relationship Id="rId19" Type="http://schemas.openxmlformats.org/officeDocument/2006/relationships/image" Target="../media/image10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1.png"/><Relationship Id="rId4" Type="http://schemas.openxmlformats.org/officeDocument/2006/relationships/image" Target="../media/image102.png"/><Relationship Id="rId5" Type="http://schemas.openxmlformats.org/officeDocument/2006/relationships/image" Target="../media/image103.png"/><Relationship Id="rId6" Type="http://schemas.openxmlformats.org/officeDocument/2006/relationships/image" Target="../media/image104.png"/><Relationship Id="rId7" Type="http://schemas.openxmlformats.org/officeDocument/2006/relationships/image" Target="../media/image105.png"/><Relationship Id="rId8" Type="http://schemas.openxmlformats.org/officeDocument/2006/relationships/image" Target="../media/image106.png"/><Relationship Id="rId9" Type="http://schemas.openxmlformats.org/officeDocument/2006/relationships/image" Target="../media/image10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8.png"/><Relationship Id="rId3" Type="http://schemas.openxmlformats.org/officeDocument/2006/relationships/image" Target="../media/image109.png"/><Relationship Id="rId4" Type="http://schemas.openxmlformats.org/officeDocument/2006/relationships/image" Target="../media/image110.png"/><Relationship Id="rId5" Type="http://schemas.openxmlformats.org/officeDocument/2006/relationships/image" Target="../media/image111.png"/><Relationship Id="rId6" Type="http://schemas.openxmlformats.org/officeDocument/2006/relationships/image" Target="../media/image112.png"/><Relationship Id="rId7" Type="http://schemas.openxmlformats.org/officeDocument/2006/relationships/image" Target="../media/image27.png"/><Relationship Id="rId8" Type="http://schemas.openxmlformats.org/officeDocument/2006/relationships/image" Target="../media/image113.png"/><Relationship Id="rId9" Type="http://schemas.openxmlformats.org/officeDocument/2006/relationships/image" Target="../media/image114.png"/><Relationship Id="rId10" Type="http://schemas.openxmlformats.org/officeDocument/2006/relationships/image" Target="../media/image115.png"/><Relationship Id="rId11" Type="http://schemas.openxmlformats.org/officeDocument/2006/relationships/image" Target="../media/image116.png"/><Relationship Id="rId12" Type="http://schemas.openxmlformats.org/officeDocument/2006/relationships/image" Target="../media/image117.png"/><Relationship Id="rId13" Type="http://schemas.openxmlformats.org/officeDocument/2006/relationships/image" Target="../media/image11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9.png"/><Relationship Id="rId4" Type="http://schemas.openxmlformats.org/officeDocument/2006/relationships/image" Target="../media/image120.png"/><Relationship Id="rId5" Type="http://schemas.openxmlformats.org/officeDocument/2006/relationships/image" Target="../media/image12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2.png"/><Relationship Id="rId3" Type="http://schemas.openxmlformats.org/officeDocument/2006/relationships/image" Target="../media/image123.png"/><Relationship Id="rId4" Type="http://schemas.openxmlformats.org/officeDocument/2006/relationships/image" Target="../media/image124.png"/><Relationship Id="rId5" Type="http://schemas.openxmlformats.org/officeDocument/2006/relationships/image" Target="../media/image125.png"/><Relationship Id="rId6" Type="http://schemas.openxmlformats.org/officeDocument/2006/relationships/image" Target="../media/image126.png"/><Relationship Id="rId7" Type="http://schemas.openxmlformats.org/officeDocument/2006/relationships/image" Target="../media/image127.png"/><Relationship Id="rId8" Type="http://schemas.openxmlformats.org/officeDocument/2006/relationships/image" Target="../media/image128.png"/><Relationship Id="rId9" Type="http://schemas.openxmlformats.org/officeDocument/2006/relationships/image" Target="../media/image11.png"/><Relationship Id="rId10" Type="http://schemas.openxmlformats.org/officeDocument/2006/relationships/image" Target="../media/image129.png"/><Relationship Id="rId11" Type="http://schemas.openxmlformats.org/officeDocument/2006/relationships/image" Target="../media/image130.png"/><Relationship Id="rId12" Type="http://schemas.openxmlformats.org/officeDocument/2006/relationships/image" Target="../media/image131.png"/><Relationship Id="rId13" Type="http://schemas.openxmlformats.org/officeDocument/2006/relationships/image" Target="../media/image132.png"/><Relationship Id="rId14" Type="http://schemas.openxmlformats.org/officeDocument/2006/relationships/image" Target="../media/image133.png"/><Relationship Id="rId15" Type="http://schemas.openxmlformats.org/officeDocument/2006/relationships/image" Target="../media/image134.png"/><Relationship Id="rId16" Type="http://schemas.openxmlformats.org/officeDocument/2006/relationships/image" Target="../media/image13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36.png"/><Relationship Id="rId4" Type="http://schemas.openxmlformats.org/officeDocument/2006/relationships/image" Target="../media/image13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38.png"/><Relationship Id="rId4" Type="http://schemas.openxmlformats.org/officeDocument/2006/relationships/image" Target="../media/image13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4295775"/>
            <a:ext cx="9753600" cy="10382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609600"/>
            <a:ext cx="3595538" cy="2857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1125200" cy="5943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1123950"/>
            <a:ext cx="10241280" cy="11391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4"/>
              </a:lnSpc>
            </a:pPr>
            <a:r>
              <a:rPr b="0" sz="3900" i="0" u="none">
                <a:solidFill>
                  <a:srgbClr val="FFFFFF"/>
                </a:solidFill>
                <a:latin typeface="Plus Jakarta Sans ExtraBold"/>
              </a:rPr>
              <a:t>Transfer Learning &amp;</a:t>
            </a:r>
            <a:r>
              <a:t>
</a:t>
            </a:r>
            <a:r>
              <a:rPr b="0" sz="3900" i="0" u="none">
                <a:solidFill>
                  <a:srgbClr val="818CF8"/>
                </a:solidFill>
                <a:latin typeface="Plus Jakarta Sans ExtraBold"/>
              </a:rPr>
              <a:t>Batch Normalization</a:t>
            </a:r>
            <a:r>
              <a:rPr b="0" sz="3900" i="0" u="none">
                <a:solidFill>
                  <a:srgbClr val="FFFFFF"/>
                </a:solidFill>
                <a:latin typeface="Plus Jakarta Sans ExtraBold"/>
              </a:rPr>
              <a:t> in Neural Networks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415480"/>
            <a:ext cx="85725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CBD5E1"/>
                </a:solidFill>
                <a:latin typeface="Inter"/>
              </a:rPr>
              <a:t>An Empirical Study on Image Classification Performance, Backbone Fine-Tuning Strategies, and Deep Network Convergence Stability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925" y="4733925"/>
            <a:ext cx="2176462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F8FAFC"/>
                </a:solidFill>
                <a:latin typeface="Inter SemiBold"/>
              </a:rPr>
              <a:t>Tanush Shoor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0887" y="4733925"/>
            <a:ext cx="2176462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F8FAFC"/>
                </a:solidFill>
                <a:latin typeface="Inter SemiBold"/>
              </a:rPr>
              <a:t>tanush.shoor09@gmail.com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57850" y="4733925"/>
            <a:ext cx="2176462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F8FAFC"/>
                </a:solidFill>
                <a:latin typeface="Inter SemiBold"/>
              </a:rPr>
              <a:t>Neural Networks &amp; Computer Vision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24812" y="4733925"/>
            <a:ext cx="2176462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F8FAFC"/>
                </a:solidFill>
                <a:latin typeface="Inter SemiBold"/>
              </a:rPr>
              <a:t>Prof. Priyansh Saxena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4983956"/>
            <a:ext cx="11125200" cy="3429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1247775"/>
            <a:ext cx="3555950" cy="3507581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17950" y="1247775"/>
            <a:ext cx="3555950" cy="3507581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02500" y="1247775"/>
            <a:ext cx="3556099" cy="3507581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66065" y="528637"/>
            <a:ext cx="992534" cy="2667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4375" y="5098256"/>
            <a:ext cx="123825" cy="12382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1525" y="1485900"/>
            <a:ext cx="457200" cy="4572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1525" y="2095500"/>
            <a:ext cx="3233685" cy="238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500" i="0" u="none">
                <a:solidFill>
                  <a:srgbClr val="1E293B"/>
                </a:solidFill>
                <a:latin typeface="Plus Jakarta Sans"/>
              </a:rPr>
              <a:t>Task 1: Transfer Learning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1525" y="2428875"/>
            <a:ext cx="3079700" cy="885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b="1" sz="1125" i="0" u="none">
                <a:solidFill>
                  <a:srgbClr val="475569"/>
                </a:solidFill>
                <a:latin typeface="Inter"/>
              </a:rPr>
              <a:t>Objective:</a:t>
            </a:r>
            <a:r>
              <a:rPr b="0" sz="1125" i="0" u="none">
                <a:solidFill>
                  <a:srgbClr val="475569"/>
                </a:solidFill>
                <a:latin typeface="Inter"/>
              </a:rPr>
              <a:t> Overcome data scarcity constraints in image classification by re-using feature representations learned on massive benchmarks.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1525" y="3409950"/>
            <a:ext cx="3079700" cy="11072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b="1" sz="1125" i="0" u="none">
                <a:solidFill>
                  <a:srgbClr val="475569"/>
                </a:solidFill>
                <a:latin typeface="Inter"/>
              </a:rPr>
              <a:t>Key Finding:</a:t>
            </a:r>
            <a:r>
              <a:rPr b="0" sz="1125" i="0" u="none">
                <a:solidFill>
                  <a:srgbClr val="475569"/>
                </a:solidFill>
                <a:latin typeface="Inter"/>
              </a:rPr>
              <a:t> Fine-tuning a pre-trained ResNet18 yielded an extraordinary </a:t>
            </a:r>
            <a:r>
              <a:rPr b="1" sz="1125" i="0" u="none">
                <a:solidFill>
                  <a:srgbClr val="475569"/>
                </a:solidFill>
                <a:latin typeface="Inter"/>
              </a:rPr>
              <a:t>99.5% accuracy</a:t>
            </a:r>
            <a:r>
              <a:rPr b="0" sz="1125" i="0" u="none">
                <a:solidFill>
                  <a:srgbClr val="475569"/>
                </a:solidFill>
                <a:latin typeface="Inter"/>
              </a:rPr>
              <a:t> on a small 1,000-image dataset compared to 61.5% from a CNN trained from scratch.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56075" y="1485900"/>
            <a:ext cx="457200" cy="4572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556075" y="2095500"/>
            <a:ext cx="3233685" cy="238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500" i="0" u="none">
                <a:solidFill>
                  <a:srgbClr val="1E293B"/>
                </a:solidFill>
                <a:latin typeface="Plus Jakarta Sans"/>
              </a:rPr>
              <a:t>Task 2: Batch Normalization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6075" y="2428875"/>
            <a:ext cx="3079700" cy="664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b="1" sz="1125" i="0" u="none">
                <a:solidFill>
                  <a:srgbClr val="475569"/>
                </a:solidFill>
                <a:latin typeface="Inter"/>
              </a:rPr>
              <a:t>Objective:</a:t>
            </a:r>
            <a:r>
              <a:rPr b="0" sz="1125" i="0" u="none">
                <a:solidFill>
                  <a:srgbClr val="475569"/>
                </a:solidFill>
                <a:latin typeface="Inter"/>
              </a:rPr>
              <a:t> Mitigate Internal Covariate Shift in deep neural networks (&gt;6 hidden layers) on the Fashion-MNIST dataset.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56075" y="3188493"/>
            <a:ext cx="3079700" cy="885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b="1" sz="1125" i="0" u="none">
                <a:solidFill>
                  <a:srgbClr val="475569"/>
                </a:solidFill>
                <a:latin typeface="Inter"/>
              </a:rPr>
              <a:t>Key Finding:</a:t>
            </a:r>
            <a:r>
              <a:rPr b="0" sz="1125" i="0" u="none">
                <a:solidFill>
                  <a:srgbClr val="475569"/>
                </a:solidFill>
                <a:latin typeface="Inter"/>
              </a:rPr>
              <a:t> Batch Normalization accelerated gradient flow, reducing final loss from 0.1733 down to </a:t>
            </a:r>
            <a:r>
              <a:rPr b="1" sz="1125" i="0" u="none">
                <a:solidFill>
                  <a:srgbClr val="475569"/>
                </a:solidFill>
                <a:latin typeface="Inter"/>
              </a:rPr>
              <a:t>0.1199</a:t>
            </a:r>
            <a:r>
              <a:rPr b="0" sz="1125" i="0" u="none">
                <a:solidFill>
                  <a:srgbClr val="475569"/>
                </a:solidFill>
                <a:latin typeface="Inter"/>
              </a:rPr>
              <a:t> while smoothing loss curves and stabilizing convergence.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40625" y="1485900"/>
            <a:ext cx="457200" cy="4572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340625" y="2095500"/>
            <a:ext cx="3233841" cy="238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500" i="0" u="none">
                <a:solidFill>
                  <a:srgbClr val="1E293B"/>
                </a:solidFill>
                <a:latin typeface="Plus Jakarta Sans"/>
              </a:rPr>
              <a:t>Practical Implications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40625" y="2428875"/>
            <a:ext cx="3079849" cy="885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b="1" sz="1125" i="0" u="none">
                <a:solidFill>
                  <a:srgbClr val="475569"/>
                </a:solidFill>
                <a:latin typeface="Inter"/>
              </a:rPr>
              <a:t>Engineering Rule:</a:t>
            </a:r>
            <a:r>
              <a:rPr b="0" sz="1125" i="0" u="none">
                <a:solidFill>
                  <a:srgbClr val="475569"/>
                </a:solidFill>
                <a:latin typeface="Inter"/>
              </a:rPr>
              <a:t> Never train deep CNNs from scratch when less than 10k labeled images are available. Always leverage Transfer Learning backbones.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40625" y="3409950"/>
            <a:ext cx="3079849" cy="885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b="1" sz="1125" i="0" u="none">
                <a:solidFill>
                  <a:srgbClr val="475569"/>
                </a:solidFill>
                <a:latin typeface="Inter"/>
              </a:rPr>
              <a:t>Optimization Rule:</a:t>
            </a:r>
            <a:r>
              <a:rPr b="0" sz="1125" i="0" u="none">
                <a:solidFill>
                  <a:srgbClr val="475569"/>
                </a:solidFill>
                <a:latin typeface="Inter"/>
              </a:rPr>
              <a:t> Insert BatchNorm layers between linear projections and activations to stabilize deeper topologies and prevent vanishing gradients.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95350" y="1609725"/>
            <a:ext cx="209550" cy="20955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464450" y="1609725"/>
            <a:ext cx="209550" cy="20955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33400" y="457200"/>
            <a:ext cx="11658600" cy="4286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Plus Jakarta Sans"/>
              </a:rPr>
              <a:t>Executive Summary &amp; Key Research Findings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33400" y="1000125"/>
            <a:ext cx="111252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1247775"/>
            <a:ext cx="5391150" cy="51530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7450" y="1247775"/>
            <a:ext cx="5391150" cy="51530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16455" y="528637"/>
            <a:ext cx="1442144" cy="2667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09625" y="1524000"/>
            <a:ext cx="5080635" cy="219075"/>
          </a:xfrm>
          <a:prstGeom prst="rect">
            <a:avLst/>
          </a:prstGeom>
          <a:noFill/>
        </p:spPr>
        <p:txBody>
          <a:bodyPr wrap="square" lIns="180975" rIns="0" tIns="0" bIns="0" anchor="t">
            <a:spAutoFit/>
          </a:bodyPr>
          <a:lstStyle/>
          <a:p>
            <a:pPr algn="l"/>
            <a:r>
              <a:rPr b="1" sz="1404" i="0" u="none">
                <a:solidFill>
                  <a:srgbClr val="334155"/>
                </a:solidFill>
                <a:latin typeface="Inter"/>
              </a:rPr>
              <a:t>The Small Dataset Dilemma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9625" y="1743075"/>
            <a:ext cx="48387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334155"/>
                </a:solidFill>
                <a:latin typeface="Inter"/>
              </a:rPr>
              <a:t>Deep Convolutional Neural Networks require millions of parameters to learn hierarchical visual features (edges, textures, object parts). When trained on small datasets (e.g., ~1,000 images):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43675" y="1524000"/>
            <a:ext cx="5080635" cy="219075"/>
          </a:xfrm>
          <a:prstGeom prst="rect">
            <a:avLst/>
          </a:prstGeom>
          <a:noFill/>
        </p:spPr>
        <p:txBody>
          <a:bodyPr wrap="square" lIns="200025" rIns="0" tIns="0" bIns="0" anchor="t">
            <a:spAutoFit/>
          </a:bodyPr>
          <a:lstStyle/>
          <a:p>
            <a:pPr algn="l"/>
            <a:r>
              <a:rPr b="1" sz="1404" i="0" u="none">
                <a:solidFill>
                  <a:srgbClr val="334155"/>
                </a:solidFill>
                <a:latin typeface="Inter"/>
              </a:rPr>
              <a:t>The Transfer Learning Solution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43675" y="1743075"/>
            <a:ext cx="48387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334155"/>
                </a:solidFill>
                <a:latin typeface="Inter"/>
              </a:rPr>
              <a:t>Transfer Learning reuses feature maps learned by a primary model trained on a massive source domain (e.g., ImageNet with 1.2M images across 1,000 classes) and transfers them to a target task: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625" y="1543050"/>
            <a:ext cx="180975" cy="17829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76325" y="2619375"/>
            <a:ext cx="4572000" cy="442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b="1" sz="1125" i="0" u="none">
                <a:solidFill>
                  <a:srgbClr val="334155"/>
                </a:solidFill>
                <a:latin typeface="Inter"/>
              </a:rPr>
              <a:t>High Overfitting Risk:</a:t>
            </a:r>
            <a:r>
              <a:rPr b="0" sz="1125" i="0" u="none">
                <a:solidFill>
                  <a:srgbClr val="334155"/>
                </a:solidFill>
                <a:latin typeface="Inter"/>
              </a:rPr>
              <a:t> Models memorize individual sample noise rather than generalizable visual features.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6325" y="3195637"/>
            <a:ext cx="4572000" cy="442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b="1" sz="1125" i="0" u="none">
                <a:solidFill>
                  <a:srgbClr val="334155"/>
                </a:solidFill>
                <a:latin typeface="Inter"/>
              </a:rPr>
              <a:t>Poor Feature Hierarchy:</a:t>
            </a:r>
            <a:r>
              <a:rPr b="0" sz="1125" i="0" u="none">
                <a:solidFill>
                  <a:srgbClr val="334155"/>
                </a:solidFill>
                <a:latin typeface="Inter"/>
              </a:rPr>
              <a:t> Lower layers fail to develop robust Gabor-like edge detectors due to insufficient gradient updates.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6325" y="3771900"/>
            <a:ext cx="4572000" cy="442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b="1" sz="1125" i="0" u="none">
                <a:solidFill>
                  <a:srgbClr val="334155"/>
                </a:solidFill>
                <a:latin typeface="Inter"/>
              </a:rPr>
              <a:t>Suboptimal Accuracy:</a:t>
            </a:r>
            <a:r>
              <a:rPr b="0" sz="1125" i="0" u="none">
                <a:solidFill>
                  <a:srgbClr val="334155"/>
                </a:solidFill>
                <a:latin typeface="Inter"/>
              </a:rPr>
              <a:t> Random weight initializations struggle to find favorable minima in high-dimensional loss landscapes.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43675" y="1543050"/>
            <a:ext cx="200025" cy="17829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810375" y="2428875"/>
            <a:ext cx="4572000" cy="442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b="1" sz="1125" i="0" u="none">
                <a:solidFill>
                  <a:srgbClr val="334155"/>
                </a:solidFill>
                <a:latin typeface="Inter"/>
              </a:rPr>
              <a:t>Frozen Backbone (Feature Extractor):</a:t>
            </a:r>
            <a:r>
              <a:rPr b="0" sz="1125" i="0" u="none">
                <a:solidFill>
                  <a:srgbClr val="334155"/>
                </a:solidFill>
                <a:latin typeface="Inter"/>
              </a:rPr>
              <a:t> Freezes low-level feature representations and trains only a new classification head.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10375" y="3005137"/>
            <a:ext cx="4572000" cy="664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b="1" sz="1125" i="0" u="none">
                <a:solidFill>
                  <a:srgbClr val="334155"/>
                </a:solidFill>
                <a:latin typeface="Inter"/>
              </a:rPr>
              <a:t>Fine-Tuned Adaptation:</a:t>
            </a:r>
            <a:r>
              <a:rPr b="0" sz="1125" i="0" u="none">
                <a:solidFill>
                  <a:srgbClr val="334155"/>
                </a:solidFill>
                <a:latin typeface="Inter"/>
              </a:rPr>
              <a:t> Unfreezes upper convolutional blocks to fine-tune representations specifically for target domain distributions.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10375" y="3802856"/>
            <a:ext cx="4572000" cy="442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b="1" sz="1125" i="0" u="none">
                <a:solidFill>
                  <a:srgbClr val="334155"/>
                </a:solidFill>
                <a:latin typeface="Inter"/>
              </a:rPr>
              <a:t>Drastic Data Efficiency:</a:t>
            </a:r>
            <a:r>
              <a:rPr b="0" sz="1125" i="0" u="none">
                <a:solidFill>
                  <a:srgbClr val="334155"/>
                </a:solidFill>
                <a:latin typeface="Inter"/>
              </a:rPr>
              <a:t> Achieves benchmark performance with 10x-100x fewer labeled training instances.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3400" y="457200"/>
            <a:ext cx="11658600" cy="4286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Plus Jakarta Sans"/>
              </a:rPr>
              <a:t>Task 1: The Challenge of Small Datasets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33400" y="1000125"/>
            <a:ext cx="111252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9625" y="2638425"/>
            <a:ext cx="104775" cy="13335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9625" y="3214687"/>
            <a:ext cx="104775" cy="13335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9625" y="3790950"/>
            <a:ext cx="104775" cy="13335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43675" y="2447925"/>
            <a:ext cx="104775" cy="13335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43675" y="3024187"/>
            <a:ext cx="104775" cy="13335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43675" y="3821906"/>
            <a:ext cx="104775" cy="1333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1247775"/>
            <a:ext cx="5391150" cy="1435893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7450" y="1247775"/>
            <a:ext cx="5391150" cy="2667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83130" y="528637"/>
            <a:ext cx="1375469" cy="26670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33400" y="2836068"/>
          <a:ext cx="5372099" cy="31051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1693068"/>
                <a:gridCol w="3679031"/>
              </a:tblGrid>
              <a:tr h="517525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Attribute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Specification Details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</a:tr>
              <a:tr h="517525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334155"/>
                          </a:solidFill>
                          <a:latin typeface="Inter"/>
                        </a:rPr>
                        <a:t>Total Sample Volume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Inter"/>
                        </a:rPr>
                        <a:t>1,000 labeled RGB images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17525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334155"/>
                          </a:solidFill>
                          <a:latin typeface="Inter"/>
                        </a:rPr>
                        <a:t>Class Distribution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Inter"/>
                        </a:rPr>
                        <a:t>500 Cats (50%) | 500 Dogs (50%) — Perfectly Balanced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517525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334155"/>
                          </a:solidFill>
                          <a:latin typeface="Inter"/>
                        </a:rPr>
                        <a:t>Train / Val Partition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Inter"/>
                        </a:rPr>
                        <a:t>80% Training (800 imgs) | 20% Validation (200 imgs)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17525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334155"/>
                          </a:solidFill>
                          <a:latin typeface="Inter"/>
                        </a:rPr>
                        <a:t>Input Resolution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Inter"/>
                        </a:rPr>
                        <a:t>Resized &amp; Cropped to 224 × 224 pixels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517525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334155"/>
                          </a:solidFill>
                          <a:latin typeface="Inter"/>
                        </a:rPr>
                        <a:t>Normalization Pipeline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Inter"/>
                        </a:rPr>
                        <a:t>ImageNet Mean [0.485, 0.456, 0.406], Std [0.229, 0.224, 0.225]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047750" y="1466850"/>
            <a:ext cx="4890611" cy="238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500" i="0" u="none">
                <a:solidFill>
                  <a:srgbClr val="1E293B"/>
                </a:solidFill>
                <a:latin typeface="Plus Jakarta Sans"/>
              </a:rPr>
              <a:t>Dataset Profile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1050" y="1800225"/>
            <a:ext cx="4924425" cy="664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b="0" sz="1125" i="0" u="none">
                <a:solidFill>
                  <a:srgbClr val="475569"/>
                </a:solidFill>
                <a:latin typeface="Inter"/>
              </a:rPr>
              <a:t>The Cats vs Dogs Mini benchmark dataset presents realistic computer vision challenges with varied lighting, backgrounds, occlusions, and camera angles.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2925" y="3283743"/>
            <a:ext cx="1693068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35993" y="3283743"/>
            <a:ext cx="3679031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76975" y="1257300"/>
            <a:ext cx="5372100" cy="26479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86525" y="4267200"/>
            <a:ext cx="142875" cy="1905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762750" y="4248150"/>
            <a:ext cx="4676775" cy="61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7"/>
              </a:lnSpc>
            </a:pPr>
            <a:r>
              <a:rPr b="1" sz="1050" i="0" u="none">
                <a:solidFill>
                  <a:srgbClr val="166534"/>
                </a:solidFill>
                <a:latin typeface="Inter"/>
              </a:rPr>
              <a:t>Preprocessing Necessity:</a:t>
            </a:r>
            <a:r>
              <a:rPr b="0" sz="1050" i="0" u="none">
                <a:solidFill>
                  <a:srgbClr val="166534"/>
                </a:solidFill>
                <a:latin typeface="Inter"/>
              </a:rPr>
              <a:t> standardizing image spatial dimensions to 224x224 and normalizing channel intensity distributions is essential for compatibility with pre-trained ResNet tensor formats.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1050" y="1490662"/>
            <a:ext cx="171450" cy="19050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542925" y="3845718"/>
            <a:ext cx="169306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235993" y="3845718"/>
            <a:ext cx="367903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2925" y="4407693"/>
            <a:ext cx="169306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235993" y="4407693"/>
            <a:ext cx="367903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2925" y="4969668"/>
            <a:ext cx="169306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235993" y="4969668"/>
            <a:ext cx="367903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2925" y="5369718"/>
            <a:ext cx="169306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235993" y="5369718"/>
            <a:ext cx="367903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3400" y="457200"/>
            <a:ext cx="11658600" cy="4286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Plus Jakarta Sans"/>
              </a:rPr>
              <a:t>Dataset Specification: Cats vs Dogs Mini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33400" y="1000125"/>
            <a:ext cx="111252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1247775"/>
            <a:ext cx="5391150" cy="27970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4197250"/>
            <a:ext cx="5391150" cy="1435893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7450" y="1247775"/>
            <a:ext cx="5391150" cy="33813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7450" y="4781550"/>
            <a:ext cx="5391150" cy="12287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2475" y="1800225"/>
            <a:ext cx="4953000" cy="18731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10204" y="528637"/>
            <a:ext cx="1448395" cy="2667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66800" y="1466850"/>
            <a:ext cx="4870608" cy="238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500" i="0" u="none">
                <a:solidFill>
                  <a:srgbClr val="1E293B"/>
                </a:solidFill>
                <a:latin typeface="Plus Jakarta Sans"/>
              </a:rPr>
              <a:t>Architecture Pipeline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2475" y="4416325"/>
            <a:ext cx="5200650" cy="238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500" i="0" u="none">
                <a:solidFill>
                  <a:srgbClr val="1E293B"/>
                </a:solidFill>
                <a:latin typeface="Plus Jakarta Sans"/>
              </a:rPr>
              <a:t>Key Characteristics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2475" y="4749700"/>
            <a:ext cx="4953000" cy="664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b="0" sz="1125" i="0" u="none">
                <a:solidFill>
                  <a:srgbClr val="475569"/>
                </a:solidFill>
                <a:latin typeface="Inter"/>
              </a:rPr>
              <a:t>Random parameter initialization, standard cross-entropy loss optimization using Adam optimizer. Trained across 5 epochs on 800 training samples.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10350" y="1466850"/>
            <a:ext cx="5070633" cy="238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500" i="0" u="none">
                <a:solidFill>
                  <a:srgbClr val="1E293B"/>
                </a:solidFill>
                <a:latin typeface="Plus Jakarta Sans"/>
              </a:rPr>
              <a:t>Loss Progression &amp; Metrics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515100" y="1800225"/>
          <a:ext cx="4905374" cy="24574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1844575"/>
                <a:gridCol w="3060799"/>
              </a:tblGrid>
              <a:tr h="409575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Epoch Number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Training Cross-Entropy Loss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</a:tr>
              <a:tr h="409575"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Inter"/>
                        </a:rPr>
                        <a:t>Epoch 1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Inter"/>
                        </a:rPr>
                        <a:t>0.7968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09575"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Inter"/>
                        </a:rPr>
                        <a:t>Epoch 2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Inter"/>
                        </a:rPr>
                        <a:t>0.6872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409575"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Inter"/>
                        </a:rPr>
                        <a:t>Epoch 3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Inter"/>
                        </a:rPr>
                        <a:t>0.6451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09575"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Inter"/>
                        </a:rPr>
                        <a:t>Epoch 4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Inter"/>
                        </a:rPr>
                        <a:t>0.6260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409575"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Inter"/>
                        </a:rPr>
                        <a:t>Epoch 5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Inter"/>
                        </a:rPr>
                        <a:t>0.5838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8162925" y="5010150"/>
            <a:ext cx="16002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050"/>
              </a:lnSpc>
            </a:pPr>
            <a:r>
              <a:rPr b="0" sz="4050" i="0" u="none">
                <a:solidFill>
                  <a:srgbClr val="FCA5A5"/>
                </a:solidFill>
                <a:latin typeface="Plus Jakarta Sans ExtraBold"/>
              </a:rPr>
              <a:t>61.5%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15275" y="5600700"/>
            <a:ext cx="209550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E0E7FF"/>
                </a:solidFill>
                <a:latin typeface="Inter SemiBold"/>
              </a:rPr>
              <a:t>Validation Accuracy Achieved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2475" y="1490662"/>
            <a:ext cx="219075" cy="1905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52500" y="2229742"/>
            <a:ext cx="123825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57"/>
              </a:lnSpc>
            </a:pPr>
            <a:r>
              <a:rPr b="1" sz="975" i="0" u="none">
                <a:solidFill>
                  <a:srgbClr val="A855F7"/>
                </a:solidFill>
                <a:latin typeface="Fira Code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52525" y="2229742"/>
            <a:ext cx="4572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57"/>
              </a:lnSpc>
            </a:pPr>
            <a:r>
              <a:rPr b="0" sz="975" i="0" u="none">
                <a:solidFill>
                  <a:srgbClr val="F43F5E"/>
                </a:solidFill>
                <a:latin typeface="Fira Code SemiBold"/>
              </a:rPr>
              <a:t>Conv2D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2500" y="2440185"/>
            <a:ext cx="123825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57"/>
              </a:lnSpc>
            </a:pPr>
            <a:r>
              <a:rPr b="1" sz="975" i="0" u="none">
                <a:solidFill>
                  <a:srgbClr val="A855F7"/>
                </a:solidFill>
                <a:latin typeface="Fira Code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2525" y="2440185"/>
            <a:ext cx="4572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57"/>
              </a:lnSpc>
            </a:pPr>
            <a:r>
              <a:rPr b="0" sz="975" i="0" u="none">
                <a:solidFill>
                  <a:srgbClr val="F43F5E"/>
                </a:solidFill>
                <a:latin typeface="Fira Code SemiBold"/>
              </a:rPr>
              <a:t>Conv2D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2500" y="2650628"/>
            <a:ext cx="123825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57"/>
              </a:lnSpc>
            </a:pPr>
            <a:r>
              <a:rPr b="1" sz="975" i="0" u="none">
                <a:solidFill>
                  <a:srgbClr val="A855F7"/>
                </a:solidFill>
                <a:latin typeface="Fira Code"/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52525" y="2650628"/>
            <a:ext cx="4572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57"/>
              </a:lnSpc>
            </a:pPr>
            <a:r>
              <a:rPr b="0" sz="975" i="0" u="none">
                <a:solidFill>
                  <a:srgbClr val="F43F5E"/>
                </a:solidFill>
                <a:latin typeface="Fira Code SemiBold"/>
              </a:rPr>
              <a:t>Conv2D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2500" y="2861071"/>
            <a:ext cx="123825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57"/>
              </a:lnSpc>
            </a:pPr>
            <a:r>
              <a:rPr b="1" sz="975" i="0" u="none">
                <a:solidFill>
                  <a:srgbClr val="A855F7"/>
                </a:solidFill>
                <a:latin typeface="Fira Code"/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52525" y="2861071"/>
            <a:ext cx="5334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57"/>
              </a:lnSpc>
            </a:pPr>
            <a:r>
              <a:rPr b="0" sz="975" i="0" u="none">
                <a:solidFill>
                  <a:srgbClr val="F43F5E"/>
                </a:solidFill>
                <a:latin typeface="Fira Code SemiBold"/>
              </a:rPr>
              <a:t>Flatten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2500" y="3071514"/>
            <a:ext cx="123825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57"/>
              </a:lnSpc>
            </a:pPr>
            <a:r>
              <a:rPr b="1" sz="975" i="0" u="none">
                <a:solidFill>
                  <a:srgbClr val="A855F7"/>
                </a:solidFill>
                <a:latin typeface="Fira Code"/>
              </a:rP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52525" y="3071514"/>
            <a:ext cx="10668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57"/>
              </a:lnSpc>
            </a:pPr>
            <a:r>
              <a:rPr b="0" sz="975" i="0" u="none">
                <a:solidFill>
                  <a:srgbClr val="F43F5E"/>
                </a:solidFill>
                <a:latin typeface="Fira Code SemiBold"/>
              </a:rPr>
              <a:t>FullyConnected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2500" y="3281957"/>
            <a:ext cx="123825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57"/>
              </a:lnSpc>
            </a:pPr>
            <a:r>
              <a:rPr b="1" sz="975" i="0" u="none">
                <a:solidFill>
                  <a:srgbClr val="A855F7"/>
                </a:solidFill>
                <a:latin typeface="Fira Code"/>
              </a:rP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52525" y="3281957"/>
            <a:ext cx="9906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57"/>
              </a:lnSpc>
            </a:pPr>
            <a:r>
              <a:rPr b="0" sz="975" i="0" u="none">
                <a:solidFill>
                  <a:srgbClr val="F43F5E"/>
                </a:solidFill>
                <a:latin typeface="Fira Code SemiBold"/>
              </a:rPr>
              <a:t>Linear Output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24625" y="2247900"/>
            <a:ext cx="1844575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369200" y="2247900"/>
            <a:ext cx="3060799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524625" y="2647950"/>
            <a:ext cx="184457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369200" y="2647950"/>
            <a:ext cx="306079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524625" y="3048000"/>
            <a:ext cx="184457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369200" y="3048000"/>
            <a:ext cx="306079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524625" y="3448050"/>
            <a:ext cx="184457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369200" y="3448050"/>
            <a:ext cx="306079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524625" y="3848100"/>
            <a:ext cx="184457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369200" y="3848100"/>
            <a:ext cx="306079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33400" y="457200"/>
            <a:ext cx="11658600" cy="4286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Plus Jakarta Sans"/>
              </a:rPr>
              <a:t>Model 1: Custom CNN Trained From Scratch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33400" y="1000125"/>
            <a:ext cx="111252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1247775"/>
            <a:ext cx="5391150" cy="30575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7450" y="1247775"/>
            <a:ext cx="5391150" cy="33813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7450" y="4781550"/>
            <a:ext cx="5391150" cy="12287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62579" y="528637"/>
            <a:ext cx="1496020" cy="2667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19175" y="1466850"/>
            <a:ext cx="4920615" cy="238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500" i="0" u="none">
                <a:solidFill>
                  <a:srgbClr val="1E293B"/>
                </a:solidFill>
                <a:latin typeface="Plus Jakarta Sans"/>
              </a:rPr>
              <a:t>Frozen Backbone Strategy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2475" y="1800225"/>
            <a:ext cx="4953000" cy="442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b="0" sz="1125" i="0" u="none">
                <a:solidFill>
                  <a:srgbClr val="475569"/>
                </a:solidFill>
                <a:latin typeface="Inter"/>
              </a:rPr>
              <a:t>ResNet18 pre-trained on 1.2 Million ImageNet instances is leveraged as a fixed feature extractor: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2475" y="4657725"/>
            <a:ext cx="171450" cy="1905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57275" y="4638675"/>
            <a:ext cx="4648200" cy="61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7"/>
              </a:lnSpc>
            </a:pPr>
            <a:r>
              <a:rPr b="1" sz="1050" i="0" u="none">
                <a:solidFill>
                  <a:srgbClr val="166534"/>
                </a:solidFill>
                <a:latin typeface="Inter"/>
              </a:rPr>
              <a:t>Computational Efficiency:</a:t>
            </a:r>
            <a:r>
              <a:rPr b="0" sz="1050" i="0" u="none">
                <a:solidFill>
                  <a:srgbClr val="166534"/>
                </a:solidFill>
                <a:latin typeface="Inter"/>
              </a:rPr>
              <a:t> Training requires computing gradients for only 1,026 parameters in the final layer instead of 11.1 Million parameters, enabling rapid execution.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00850" y="1466850"/>
            <a:ext cx="4870608" cy="238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500" i="0" u="none">
                <a:solidFill>
                  <a:srgbClr val="1E293B"/>
                </a:solidFill>
                <a:latin typeface="Plus Jakarta Sans"/>
              </a:rPr>
              <a:t>Loss Trajectory &amp; Metrics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515100" y="1800225"/>
          <a:ext cx="4905374" cy="24574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1129010"/>
                <a:gridCol w="1530548"/>
                <a:gridCol w="2245816"/>
              </a:tblGrid>
              <a:tr h="409575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Epoch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Training Loss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Performance Delta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</a:tr>
              <a:tr h="409575"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Inter"/>
                        </a:rPr>
                        <a:t>Epoch 1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Inter"/>
                        </a:rPr>
                        <a:t>0.4628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Inter"/>
                        </a:rPr>
                        <a:t>Initial drop vs Scratch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09575"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Inter"/>
                        </a:rPr>
                        <a:t>Epoch 2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Inter"/>
                        </a:rPr>
                        <a:t>0.2318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Inter"/>
                        </a:rPr>
                        <a:t>Fast convergence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409575"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Inter"/>
                        </a:rPr>
                        <a:t>Epoch 3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Inter"/>
                        </a:rPr>
                        <a:t>0.1501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Inter"/>
                        </a:rPr>
                        <a:t>Steady refinement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09575"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Inter"/>
                        </a:rPr>
                        <a:t>Epoch 4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Inter"/>
                        </a:rPr>
                        <a:t>0.1454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Inter"/>
                        </a:rPr>
                        <a:t>Stabilizing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409575"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Inter"/>
                        </a:rPr>
                        <a:t>Epoch 5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Inter"/>
                        </a:rPr>
                        <a:t>0.1238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Inter"/>
                        </a:rPr>
                        <a:t>Final training loss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8120062" y="5010150"/>
            <a:ext cx="1685925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050"/>
              </a:lnSpc>
            </a:pPr>
            <a:r>
              <a:rPr b="0" sz="4050" i="0" u="none">
                <a:solidFill>
                  <a:srgbClr val="93C5FD"/>
                </a:solidFill>
                <a:latin typeface="Plus Jakarta Sans ExtraBold"/>
              </a:rPr>
              <a:t>97.0%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19987" y="5600700"/>
            <a:ext cx="2886075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E0E7FF"/>
                </a:solidFill>
                <a:latin typeface="Inter SemiBold"/>
              </a:rPr>
              <a:t>Validation Accuracy (+35.5% vs Scratch)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2475" y="1490662"/>
            <a:ext cx="171450" cy="1905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019175" y="2357437"/>
            <a:ext cx="4686300" cy="442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b="1" sz="1125" i="0" u="none">
                <a:solidFill>
                  <a:srgbClr val="334155"/>
                </a:solidFill>
                <a:latin typeface="Inter"/>
              </a:rPr>
              <a:t>Frozen Layers:</a:t>
            </a:r>
            <a:r>
              <a:rPr b="0" sz="1125" i="0" u="none">
                <a:solidFill>
                  <a:srgbClr val="334155"/>
                </a:solidFill>
                <a:latin typeface="Inter"/>
              </a:rPr>
              <a:t> All convolutional blocks (`conv1` through `layer4`) are frozen (`requires_grad = False`).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9175" y="2933700"/>
            <a:ext cx="4686300" cy="442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b="1" sz="1125" i="0" u="none">
                <a:solidFill>
                  <a:srgbClr val="334155"/>
                </a:solidFill>
                <a:latin typeface="Inter"/>
              </a:rPr>
              <a:t>Preserved Knowledge:</a:t>
            </a:r>
            <a:r>
              <a:rPr b="0" sz="1125" i="0" u="none">
                <a:solidFill>
                  <a:srgbClr val="334155"/>
                </a:solidFill>
                <a:latin typeface="Inter"/>
              </a:rPr>
              <a:t> Low, mid, and high-level visual features (edges, textures, shapes) remain intact.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9175" y="3509962"/>
            <a:ext cx="4686300" cy="442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b="1" sz="1125" i="0" u="none">
                <a:solidFill>
                  <a:srgbClr val="334155"/>
                </a:solidFill>
                <a:latin typeface="Inter"/>
              </a:rPr>
              <a:t>Trainable Head:</a:t>
            </a:r>
            <a:r>
              <a:rPr b="0" sz="1125" i="0" u="none">
                <a:solidFill>
                  <a:srgbClr val="334155"/>
                </a:solidFill>
                <a:latin typeface="Inter"/>
              </a:rPr>
              <a:t> The final FC layer (512 inputs) is replaced with a 2-class linear output classifier (`requires_grad = True`).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15100" y="1490662"/>
            <a:ext cx="190500" cy="19050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6524625" y="2247900"/>
            <a:ext cx="112901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53635" y="2247900"/>
            <a:ext cx="1530548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84183" y="2247900"/>
            <a:ext cx="2245816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653635" y="2647950"/>
            <a:ext cx="153054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184183" y="2647950"/>
            <a:ext cx="224581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524625" y="3048000"/>
            <a:ext cx="112901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184183" y="3048000"/>
            <a:ext cx="224581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24625" y="3448050"/>
            <a:ext cx="112901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653635" y="3448050"/>
            <a:ext cx="153054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24625" y="3848100"/>
            <a:ext cx="112901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653635" y="3848100"/>
            <a:ext cx="153054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184183" y="3848100"/>
            <a:ext cx="224581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33400" y="457200"/>
            <a:ext cx="11658600" cy="4286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Plus Jakarta Sans"/>
              </a:rPr>
              <a:t>Model 2: Frozen ResNet18 Feature Extractor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33400" y="1000125"/>
            <a:ext cx="111252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2475" y="2376487"/>
            <a:ext cx="104775" cy="133350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2475" y="2952750"/>
            <a:ext cx="104775" cy="133350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2475" y="3529012"/>
            <a:ext cx="104775" cy="133350"/>
          </a:xfrm>
          <a:prstGeom prst="rect">
            <a:avLst/>
          </a:prstGeom>
        </p:spPr>
      </p:pic>
      <p:sp>
        <p:nvSpPr>
          <p:cNvPr id="37" name="Rectangle 36"/>
          <p:cNvSpPr/>
          <p:nvPr/>
        </p:nvSpPr>
        <p:spPr>
          <a:xfrm>
            <a:off x="6524625" y="2647950"/>
            <a:ext cx="112901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653635" y="3048000"/>
            <a:ext cx="153054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184183" y="3448050"/>
            <a:ext cx="224581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1247775"/>
            <a:ext cx="5391150" cy="2836068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4236243"/>
            <a:ext cx="5391150" cy="1435893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7450" y="1247775"/>
            <a:ext cx="5391150" cy="33813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7450" y="4781550"/>
            <a:ext cx="5391150" cy="12287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26401" y="528637"/>
            <a:ext cx="1632198" cy="2667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38225" y="1466850"/>
            <a:ext cx="4900612" cy="238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500" i="0" u="none">
                <a:solidFill>
                  <a:srgbClr val="1E293B"/>
                </a:solidFill>
                <a:latin typeface="Plus Jakarta Sans"/>
              </a:rPr>
              <a:t>Selective Unfreezing Strategy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2475" y="1800225"/>
            <a:ext cx="4953000" cy="442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b="0" sz="1125" i="0" u="none">
                <a:solidFill>
                  <a:srgbClr val="475569"/>
                </a:solidFill>
                <a:latin typeface="Inter"/>
              </a:rPr>
              <a:t>Rather than freezing all backbone parameters, upper layers are unfrozen to allow feature representations to adapt specifically to animal features: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0600" y="4455318"/>
            <a:ext cx="4950618" cy="238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500" i="0" u="none">
                <a:solidFill>
                  <a:srgbClr val="065F46"/>
                </a:solidFill>
                <a:latin typeface="Plus Jakarta Sans"/>
              </a:rPr>
              <a:t>Optimal Performance Paradigm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2475" y="4788693"/>
            <a:ext cx="4953000" cy="664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b="0" sz="1125" i="0" u="none">
                <a:solidFill>
                  <a:srgbClr val="047857"/>
                </a:solidFill>
                <a:latin typeface="Inter"/>
              </a:rPr>
              <a:t>Fine-tuning allows small gradient adjustments to flow back into high-level conv layers, customizing semantic spatial filters without destroying low-level edge features.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00850" y="1466850"/>
            <a:ext cx="4870608" cy="238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500" i="0" u="none">
                <a:solidFill>
                  <a:srgbClr val="1E293B"/>
                </a:solidFill>
                <a:latin typeface="Plus Jakarta Sans"/>
              </a:rPr>
              <a:t>Training Loss Trajectory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515100" y="1800225"/>
          <a:ext cx="4905373" cy="24574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1063674"/>
                <a:gridCol w="1441995"/>
                <a:gridCol w="2399704"/>
              </a:tblGrid>
              <a:tr h="409575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Epoch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Training Loss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Convergence Status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</a:tr>
              <a:tr h="409575"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Inter"/>
                        </a:rPr>
                        <a:t>Epoch 1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Inter"/>
                        </a:rPr>
                        <a:t>0.1743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Inter"/>
                        </a:rPr>
                        <a:t>Rapid initial drop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09575"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Inter"/>
                        </a:rPr>
                        <a:t>Epoch 2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Inter"/>
                        </a:rPr>
                        <a:t>0.0346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Inter"/>
                        </a:rPr>
                        <a:t>Near-zero error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409575"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Inter"/>
                        </a:rPr>
                        <a:t>Epoch 3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Inter"/>
                        </a:rPr>
                        <a:t>0.0087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Inter"/>
                        </a:rPr>
                        <a:t>High precision refinement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09575"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Inter"/>
                        </a:rPr>
                        <a:t>Epoch 4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Inter"/>
                        </a:rPr>
                        <a:t>0.0062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Inter"/>
                        </a:rPr>
                        <a:t>Asymptotic convergence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409575"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Inter"/>
                        </a:rPr>
                        <a:t>Epoch 5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Inter"/>
                        </a:rPr>
                        <a:t>0.0038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Inter"/>
                        </a:rPr>
                        <a:t>Optimal loss minimum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8120062" y="5010150"/>
            <a:ext cx="1685925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050"/>
              </a:lnSpc>
            </a:pPr>
            <a:r>
              <a:rPr b="0" sz="4050" i="0" u="none">
                <a:solidFill>
                  <a:srgbClr val="A7F3D0"/>
                </a:solidFill>
                <a:latin typeface="Plus Jakarta Sans ExtraBold"/>
              </a:rPr>
              <a:t>99.5%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43825" y="5600700"/>
            <a:ext cx="243840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E0E7FF"/>
                </a:solidFill>
                <a:latin typeface="Inter SemiBold"/>
              </a:rPr>
              <a:t>Validation Accuracy (Near Perfect)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2475" y="1490662"/>
            <a:ext cx="190500" cy="1905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019175" y="2357437"/>
            <a:ext cx="4686300" cy="221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b="1" sz="1125" i="0" u="none">
                <a:solidFill>
                  <a:srgbClr val="334155"/>
                </a:solidFill>
                <a:latin typeface="Inter"/>
              </a:rPr>
              <a:t>Base Weights:</a:t>
            </a:r>
            <a:r>
              <a:rPr b="0" sz="1125" i="0" u="none">
                <a:solidFill>
                  <a:srgbClr val="334155"/>
                </a:solidFill>
                <a:latin typeface="Inter"/>
              </a:rPr>
              <a:t> Initialized with ImageNet pre-trained parameters.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9175" y="2712243"/>
            <a:ext cx="4686300" cy="442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b="1" sz="1125" i="0" u="none">
                <a:solidFill>
                  <a:srgbClr val="334155"/>
                </a:solidFill>
                <a:latin typeface="Inter"/>
              </a:rPr>
              <a:t>Unfrozen Block:</a:t>
            </a:r>
            <a:r>
              <a:rPr b="0" sz="1125" i="0" u="none">
                <a:solidFill>
                  <a:srgbClr val="334155"/>
                </a:solidFill>
                <a:latin typeface="Inter"/>
              </a:rPr>
              <a:t> The final convolutional block (`layer4`) is set to `requires_grad = True`.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9175" y="3288506"/>
            <a:ext cx="4686300" cy="442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b="1" sz="1125" i="0" u="none">
                <a:solidFill>
                  <a:srgbClr val="334155"/>
                </a:solidFill>
                <a:latin typeface="Inter"/>
              </a:rPr>
              <a:t>Joint Optimization:</a:t>
            </a:r>
            <a:r>
              <a:rPr b="0" sz="1125" i="0" u="none">
                <a:solidFill>
                  <a:srgbClr val="334155"/>
                </a:solidFill>
                <a:latin typeface="Inter"/>
              </a:rPr>
              <a:t> Adapts high-level abstract representation filters specifically to distinguish cat/dog anatomy.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2475" y="4479131"/>
            <a:ext cx="142875" cy="1905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15100" y="1490662"/>
            <a:ext cx="190500" cy="190500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6524625" y="2247900"/>
            <a:ext cx="1063674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588299" y="2247900"/>
            <a:ext cx="1441995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030295" y="2247900"/>
            <a:ext cx="2399704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588299" y="2647950"/>
            <a:ext cx="144199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524625" y="3048000"/>
            <a:ext cx="106367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588299" y="3048000"/>
            <a:ext cx="144199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030295" y="3048000"/>
            <a:ext cx="239970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588299" y="3448050"/>
            <a:ext cx="144199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030295" y="3448050"/>
            <a:ext cx="239970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524625" y="3848100"/>
            <a:ext cx="106367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030295" y="3848100"/>
            <a:ext cx="239970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33400" y="457200"/>
            <a:ext cx="11658600" cy="4286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Plus Jakarta Sans"/>
              </a:rPr>
              <a:t>Model 3: Fine-Tuned ResNet18 Adaptation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33400" y="1000125"/>
            <a:ext cx="111252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2475" y="2376487"/>
            <a:ext cx="104775" cy="133350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2475" y="2731293"/>
            <a:ext cx="104775" cy="133350"/>
          </a:xfrm>
          <a:prstGeom prst="rect">
            <a:avLst/>
          </a:prstGeom>
        </p:spPr>
      </p:pic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2475" y="3307556"/>
            <a:ext cx="104775" cy="133350"/>
          </a:xfrm>
          <a:prstGeom prst="rect">
            <a:avLst/>
          </a:prstGeom>
        </p:spPr>
      </p:pic>
      <p:sp>
        <p:nvSpPr>
          <p:cNvPr id="38" name="Rectangle 37"/>
          <p:cNvSpPr/>
          <p:nvPr/>
        </p:nvSpPr>
        <p:spPr>
          <a:xfrm>
            <a:off x="6524625" y="2647950"/>
            <a:ext cx="106367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030295" y="2647950"/>
            <a:ext cx="239970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524625" y="3448050"/>
            <a:ext cx="106367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588299" y="3848100"/>
            <a:ext cx="144199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3409950"/>
            <a:ext cx="5391150" cy="28384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7450" y="3409950"/>
            <a:ext cx="5391150" cy="28384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92655" y="528637"/>
            <a:ext cx="1365944" cy="26670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33400" y="1247775"/>
          <a:ext cx="11106147" cy="18573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2072282"/>
                <a:gridCol w="2404318"/>
                <a:gridCol w="1373832"/>
                <a:gridCol w="1408211"/>
                <a:gridCol w="1431131"/>
                <a:gridCol w="2416373"/>
              </a:tblGrid>
              <a:tr h="464343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Model Strategy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Trainable Params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Epoch 1 Loss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Epoch 5 Loss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Val Accuracy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Performance Tier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</a:tr>
              <a:tr h="464343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334155"/>
                          </a:solidFill>
                          <a:latin typeface="Inter"/>
                        </a:rPr>
                        <a:t>CNN From Scratch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Inter"/>
                        </a:rPr>
                        <a:t>~150,000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Inter"/>
                        </a:rPr>
                        <a:t>0.7968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Inter"/>
                        </a:rPr>
                        <a:t>0.5838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Inter"/>
                        </a:rPr>
                        <a:t>61.5%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Inter"/>
                        </a:rPr>
                        <a:t>Baseline (Underfitting)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64343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334155"/>
                          </a:solidFill>
                          <a:latin typeface="Inter"/>
                        </a:rPr>
                        <a:t>Frozen ResNet18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Inter"/>
                        </a:rPr>
                        <a:t>1,026 (FC layer)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Inter"/>
                        </a:rPr>
                        <a:t>0.4628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Inter"/>
                        </a:rPr>
                        <a:t>0.1238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Inter"/>
                        </a:rPr>
                        <a:t>97.0%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Inter"/>
                        </a:rPr>
                        <a:t>High Efficiency (+35.5%)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464346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334155"/>
                          </a:solidFill>
                          <a:latin typeface="Inter"/>
                        </a:rPr>
                        <a:t>Fine-Tuned ResNet18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Inter"/>
                        </a:rPr>
                        <a:t>~8.5 Million (Layer 4 + FC)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Inter"/>
                        </a:rPr>
                        <a:t>0.1743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Inter"/>
                        </a:rPr>
                        <a:t>0.0038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Inter"/>
                        </a:rPr>
                        <a:t>99.5%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Inter"/>
                        </a:rPr>
                        <a:t>State-of-the-Art (+38.0%)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42925" y="1695450"/>
            <a:ext cx="207228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615207" y="1695450"/>
            <a:ext cx="2404318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19526" y="1695450"/>
            <a:ext cx="137383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93358" y="1695450"/>
            <a:ext cx="1408211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801570" y="1695450"/>
            <a:ext cx="1431131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232701" y="1695450"/>
            <a:ext cx="2416373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2925" y="2162175"/>
            <a:ext cx="207228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615207" y="2162175"/>
            <a:ext cx="240431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19526" y="2162175"/>
            <a:ext cx="137383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93358" y="2162175"/>
            <a:ext cx="140821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801570" y="2162175"/>
            <a:ext cx="143113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232701" y="2162175"/>
            <a:ext cx="241637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2925" y="2628900"/>
            <a:ext cx="207228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615207" y="2628900"/>
            <a:ext cx="240431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19526" y="2628900"/>
            <a:ext cx="137383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93358" y="2628900"/>
            <a:ext cx="140821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801570" y="2628900"/>
            <a:ext cx="143113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232701" y="2628900"/>
            <a:ext cx="241637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8225" y="3629025"/>
            <a:ext cx="4900612" cy="238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500" i="0" u="none">
                <a:solidFill>
                  <a:srgbClr val="1E293B"/>
                </a:solidFill>
                <a:latin typeface="Plus Jakarta Sans"/>
              </a:rPr>
              <a:t>Loss Convergence Rate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2475" y="3962400"/>
            <a:ext cx="4953000" cy="664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b="0" sz="1125" i="0" u="none">
                <a:solidFill>
                  <a:srgbClr val="475569"/>
                </a:solidFill>
                <a:latin typeface="Inter"/>
              </a:rPr>
              <a:t>Fine-Tuned ResNet18 achieved an epoch 5 training loss of </a:t>
            </a:r>
            <a:r>
              <a:rPr b="1" sz="1125" i="0" u="none">
                <a:solidFill>
                  <a:srgbClr val="475569"/>
                </a:solidFill>
                <a:latin typeface="Inter"/>
              </a:rPr>
              <a:t>0.0038</a:t>
            </a:r>
            <a:r>
              <a:rPr b="0" sz="1125" i="0" u="none">
                <a:solidFill>
                  <a:srgbClr val="475569"/>
                </a:solidFill>
                <a:latin typeface="Inter"/>
              </a:rPr>
              <a:t>, which is </a:t>
            </a:r>
            <a:r>
              <a:rPr b="1" sz="1125" i="0" u="none">
                <a:solidFill>
                  <a:srgbClr val="475569"/>
                </a:solidFill>
                <a:latin typeface="Inter"/>
              </a:rPr>
              <a:t>153x lower</a:t>
            </a:r>
            <a:r>
              <a:rPr b="0" sz="1125" i="0" u="none">
                <a:solidFill>
                  <a:srgbClr val="475569"/>
                </a:solidFill>
                <a:latin typeface="Inter"/>
              </a:rPr>
              <a:t> than the CNN trained from scratch (0.5838) and </a:t>
            </a:r>
            <a:r>
              <a:rPr b="1" sz="1125" i="0" u="none">
                <a:solidFill>
                  <a:srgbClr val="475569"/>
                </a:solidFill>
                <a:latin typeface="Inter"/>
              </a:rPr>
              <a:t>32x lower</a:t>
            </a:r>
            <a:r>
              <a:rPr b="0" sz="1125" i="0" u="none">
                <a:solidFill>
                  <a:srgbClr val="475569"/>
                </a:solidFill>
                <a:latin typeface="Inter"/>
              </a:rPr>
              <a:t> than Frozen ResNet18 (0.1238).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53225" y="3629025"/>
            <a:ext cx="4920615" cy="238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500" i="0" u="none">
                <a:solidFill>
                  <a:srgbClr val="1E293B"/>
                </a:solidFill>
                <a:latin typeface="Plus Jakarta Sans"/>
              </a:rPr>
              <a:t>Key Validation Takeaway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86525" y="3962400"/>
            <a:ext cx="4953000" cy="664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b="0" sz="1125" i="0" u="none">
                <a:solidFill>
                  <a:srgbClr val="475569"/>
                </a:solidFill>
                <a:latin typeface="Inter"/>
              </a:rPr>
              <a:t>Re-using generic lower-level ImageNet filters while adapting high-level semantic features enables deep neural networks to achieve near-perfect generalizability even with only 800 training images.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2475" y="3652837"/>
            <a:ext cx="190500" cy="190500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86525" y="3652837"/>
            <a:ext cx="171450" cy="190500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73020" y="1819275"/>
            <a:ext cx="561975" cy="228600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73020" y="2286000"/>
            <a:ext cx="571500" cy="228600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73020" y="2752725"/>
            <a:ext cx="581025" cy="2286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3400" y="457200"/>
            <a:ext cx="11658600" cy="4286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Plus Jakarta Sans"/>
              </a:rPr>
              <a:t>Task 1: Comprehensive Model Comparison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33400" y="1000125"/>
            <a:ext cx="111252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1247775"/>
            <a:ext cx="3555950" cy="2526506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7950" y="1247775"/>
            <a:ext cx="3555950" cy="252650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02500" y="1247775"/>
            <a:ext cx="3556099" cy="2526506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19729" y="528637"/>
            <a:ext cx="1438870" cy="2667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2475" y="4202906"/>
            <a:ext cx="190500" cy="1905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76325" y="4183856"/>
            <a:ext cx="10363200" cy="4131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7"/>
              </a:lnSpc>
            </a:pPr>
            <a:r>
              <a:rPr b="1" sz="1050" i="0" u="none">
                <a:solidFill>
                  <a:srgbClr val="0369A1"/>
                </a:solidFill>
                <a:latin typeface="Inter"/>
              </a:rPr>
              <a:t>Practical Rule of Thumb:</a:t>
            </a:r>
            <a:r>
              <a:rPr b="0" sz="1050" i="0" u="none">
                <a:solidFill>
                  <a:srgbClr val="0369A1"/>
                </a:solidFill>
                <a:latin typeface="Inter"/>
              </a:rPr>
              <a:t> For domain-specific tasks with limited training samples, start with a frozen pre-trained backbone. If additional accuracy is required, selectively unfreeze upper convolutional layers with a reduced learning rate.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1525" y="1485900"/>
            <a:ext cx="457200" cy="4572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1525" y="2095500"/>
            <a:ext cx="3233685" cy="238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500" i="0" u="none">
                <a:solidFill>
                  <a:srgbClr val="1E293B"/>
                </a:solidFill>
                <a:latin typeface="Plus Jakarta Sans"/>
              </a:rPr>
              <a:t>1. Visual Hierarchy Transfer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1525" y="2428875"/>
            <a:ext cx="3079700" cy="11072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b="0" sz="1125" i="0" u="none">
                <a:solidFill>
                  <a:srgbClr val="475569"/>
                </a:solidFill>
                <a:latin typeface="Inter"/>
              </a:rPr>
              <a:t>Early layers in CNNs detect edges, lines, and textures regardless of domain. Reusing ImageNet features circumvents the need to learn basic visual primitives from small datasets.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56075" y="1485900"/>
            <a:ext cx="457200" cy="4572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556075" y="2095500"/>
            <a:ext cx="3233685" cy="238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500" i="0" u="none">
                <a:solidFill>
                  <a:srgbClr val="1E293B"/>
                </a:solidFill>
                <a:latin typeface="Plus Jakarta Sans"/>
              </a:rPr>
              <a:t>2. Overfitting Immunity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6075" y="2428875"/>
            <a:ext cx="3079700" cy="11072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b="0" sz="1125" i="0" u="none">
                <a:solidFill>
                  <a:srgbClr val="475569"/>
                </a:solidFill>
                <a:latin typeface="Inter"/>
              </a:rPr>
              <a:t>Training a deep model from scratch on 800 images causes severe overfitting. Pre-trained weights act as an extremely strong regularizer, guiding optimization toward generalized minima.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40625" y="1485900"/>
            <a:ext cx="457200" cy="4572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340625" y="2095500"/>
            <a:ext cx="3233841" cy="238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500" i="0" u="none">
                <a:solidFill>
                  <a:srgbClr val="1E293B"/>
                </a:solidFill>
                <a:latin typeface="Plus Jakarta Sans"/>
              </a:rPr>
              <a:t>3. Unfreezing Synergy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40625" y="2428875"/>
            <a:ext cx="3079849" cy="885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b="0" sz="1125" i="0" u="none">
                <a:solidFill>
                  <a:srgbClr val="475569"/>
                </a:solidFill>
                <a:latin typeface="Inter"/>
              </a:rPr>
              <a:t>Frozen ResNet18 reaches 97% accuracy, but unfreezing `layer4` bridges the remaining gap to 99.5% by tailoring high-level dog/cat facial structures and coat textures.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5350" y="1609725"/>
            <a:ext cx="209550" cy="2095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679900" y="1609725"/>
            <a:ext cx="209550" cy="20955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464450" y="1609725"/>
            <a:ext cx="209550" cy="20955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33400" y="457200"/>
            <a:ext cx="11658600" cy="4286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Plus Jakarta Sans"/>
              </a:rPr>
              <a:t>Task 1: Deep Analytical Takeaways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33400" y="1000125"/>
            <a:ext cx="111252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1247775"/>
            <a:ext cx="5391150" cy="51530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7450" y="1247775"/>
            <a:ext cx="5391150" cy="51530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87880" y="528637"/>
            <a:ext cx="1470719" cy="2667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09625" y="1524000"/>
            <a:ext cx="5080635" cy="219075"/>
          </a:xfrm>
          <a:prstGeom prst="rect">
            <a:avLst/>
          </a:prstGeom>
          <a:noFill/>
        </p:spPr>
        <p:txBody>
          <a:bodyPr wrap="square" lIns="219075" rIns="0" tIns="0" bIns="0" anchor="t">
            <a:spAutoFit/>
          </a:bodyPr>
          <a:lstStyle/>
          <a:p>
            <a:pPr algn="l"/>
            <a:r>
              <a:rPr b="1" sz="1404" i="0" u="none">
                <a:solidFill>
                  <a:srgbClr val="334155"/>
                </a:solidFill>
                <a:latin typeface="Inter"/>
              </a:rPr>
              <a:t>Internal Covariate Shift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9625" y="1743075"/>
            <a:ext cx="48387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334155"/>
                </a:solidFill>
                <a:latin typeface="Inter"/>
              </a:rPr>
              <a:t>As parameters in preceding layers update during backpropagation, the input distribution to deeper layers continually shifts. This creates major training challenges: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43675" y="1524000"/>
            <a:ext cx="5080635" cy="219075"/>
          </a:xfrm>
          <a:prstGeom prst="rect">
            <a:avLst/>
          </a:prstGeom>
          <a:noFill/>
        </p:spPr>
        <p:txBody>
          <a:bodyPr wrap="square" lIns="180975" rIns="0" tIns="0" bIns="0" anchor="t">
            <a:spAutoFit/>
          </a:bodyPr>
          <a:lstStyle/>
          <a:p>
            <a:pPr algn="l"/>
            <a:r>
              <a:rPr b="1" sz="1404" i="0" u="none">
                <a:solidFill>
                  <a:srgbClr val="334155"/>
                </a:solidFill>
                <a:latin typeface="Inter"/>
              </a:rPr>
              <a:t>The Batch Normalization Fix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43675" y="1743075"/>
            <a:ext cx="48387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334155"/>
                </a:solidFill>
                <a:latin typeface="Inter"/>
              </a:rPr>
              <a:t>Introduced by Ioffe &amp; Szegedy (2015), Batch Normalization normalizes the layer inputs across each mini-batch, fixing their mean and variance: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625" y="1543050"/>
            <a:ext cx="219075" cy="17829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76325" y="2428875"/>
            <a:ext cx="4572000" cy="442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b="1" sz="1125" i="0" u="none">
                <a:solidFill>
                  <a:srgbClr val="334155"/>
                </a:solidFill>
                <a:latin typeface="Inter"/>
              </a:rPr>
              <a:t>Slower Convergence:</a:t>
            </a:r>
            <a:r>
              <a:rPr b="0" sz="1125" i="0" u="none">
                <a:solidFill>
                  <a:srgbClr val="334155"/>
                </a:solidFill>
                <a:latin typeface="Inter"/>
              </a:rPr>
              <a:t> Layers must constantly re-adapt to shifting input distributions, requiring tiny learning rates.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6325" y="3005137"/>
            <a:ext cx="4572000" cy="442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b="1" sz="1125" i="0" u="none">
                <a:solidFill>
                  <a:srgbClr val="334155"/>
                </a:solidFill>
                <a:latin typeface="Inter"/>
              </a:rPr>
              <a:t>Vanishing/Exploding Gradients:</a:t>
            </a:r>
            <a:r>
              <a:rPr b="0" sz="1125" i="0" u="none">
                <a:solidFill>
                  <a:srgbClr val="334155"/>
                </a:solidFill>
                <a:latin typeface="Inter"/>
              </a:rPr>
              <a:t> Unbounded layer activations push non-linear activations (like Sigmoid/Tanh) into saturated regimes.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6325" y="3581400"/>
            <a:ext cx="4572000" cy="442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b="1" sz="1125" i="0" u="none">
                <a:solidFill>
                  <a:srgbClr val="334155"/>
                </a:solidFill>
                <a:latin typeface="Inter"/>
              </a:rPr>
              <a:t>Weight Initialization Sensitivity:</a:t>
            </a:r>
            <a:r>
              <a:rPr b="0" sz="1125" i="0" u="none">
                <a:solidFill>
                  <a:srgbClr val="334155"/>
                </a:solidFill>
                <a:latin typeface="Inter"/>
              </a:rPr>
              <a:t> Deep networks (&gt;5 layers) become hyper-sensitive to initial weight scales.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43675" y="1543050"/>
            <a:ext cx="180975" cy="17829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810375" y="2428875"/>
            <a:ext cx="4572000" cy="442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b="1" sz="1125" i="0" u="none">
                <a:solidFill>
                  <a:srgbClr val="334155"/>
                </a:solidFill>
                <a:latin typeface="Inter"/>
              </a:rPr>
              <a:t>Stabilized Distribution:</a:t>
            </a:r>
            <a:r>
              <a:rPr b="0" sz="1125" i="0" u="none">
                <a:solidFill>
                  <a:srgbClr val="334155"/>
                </a:solidFill>
                <a:latin typeface="Inter"/>
              </a:rPr>
              <a:t> Maintains zero mean and unit variance for intermediate activations across mini-batches.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10375" y="3005137"/>
            <a:ext cx="4572000" cy="442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b="1" sz="1125" i="0" u="none">
                <a:solidFill>
                  <a:srgbClr val="334155"/>
                </a:solidFill>
                <a:latin typeface="Inter"/>
              </a:rPr>
              <a:t>Accelerated Optimization:</a:t>
            </a:r>
            <a:r>
              <a:rPr b="0" sz="1125" i="0" u="none">
                <a:solidFill>
                  <a:srgbClr val="334155"/>
                </a:solidFill>
                <a:latin typeface="Inter"/>
              </a:rPr>
              <a:t> Allows significantly higher learning rates without risk of gradient explosion.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10375" y="3581400"/>
            <a:ext cx="4572000" cy="442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b="1" sz="1125" i="0" u="none">
                <a:solidFill>
                  <a:srgbClr val="334155"/>
                </a:solidFill>
                <a:latin typeface="Inter"/>
              </a:rPr>
              <a:t>Regularization Effect:</a:t>
            </a:r>
            <a:r>
              <a:rPr b="0" sz="1125" i="0" u="none">
                <a:solidFill>
                  <a:srgbClr val="334155"/>
                </a:solidFill>
                <a:latin typeface="Inter"/>
              </a:rPr>
              <a:t> Mini-batch noise acts as a mild regularizer, reducing dependence on Dropout.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3400" y="457200"/>
            <a:ext cx="11658600" cy="4286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Plus Jakarta Sans"/>
              </a:rPr>
              <a:t>Task 2: Internal Covariate Shift &amp; Batch Norm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33400" y="1000125"/>
            <a:ext cx="111252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9625" y="2447925"/>
            <a:ext cx="104775" cy="13335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9625" y="3024187"/>
            <a:ext cx="104775" cy="13335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9625" y="3600450"/>
            <a:ext cx="104775" cy="13335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43675" y="2447925"/>
            <a:ext cx="104775" cy="13335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43675" y="3024187"/>
            <a:ext cx="104775" cy="13335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43675" y="3600450"/>
            <a:ext cx="104775" cy="1333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1247775"/>
            <a:ext cx="5391150" cy="1435893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7450" y="1247775"/>
            <a:ext cx="5391150" cy="2667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7450" y="4067175"/>
            <a:ext cx="5391150" cy="925264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54555" y="528637"/>
            <a:ext cx="1404044" cy="266700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33400" y="2836068"/>
          <a:ext cx="5372099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2001887"/>
                <a:gridCol w="3370212"/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Dataset Metric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Value &amp; Properties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334155"/>
                          </a:solidFill>
                          <a:latin typeface="Inter"/>
                        </a:rPr>
                        <a:t>Total Dataset Volume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Inter"/>
                        </a:rPr>
                        <a:t>70,000 grayscale images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334155"/>
                          </a:solidFill>
                          <a:latin typeface="Inter"/>
                        </a:rPr>
                        <a:t>Train / Test Split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Inter"/>
                        </a:rPr>
                        <a:t>60,000 Training | 10,000 Testing images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334155"/>
                          </a:solidFill>
                          <a:latin typeface="Inter"/>
                        </a:rPr>
                        <a:t>Spatial Resolution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Inter"/>
                        </a:rPr>
                        <a:t>28 × 28 pixels (784 features flattened)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334155"/>
                          </a:solidFill>
                          <a:latin typeface="Inter"/>
                        </a:rPr>
                        <a:t>Number of Classes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Inter"/>
                        </a:rPr>
                        <a:t>10 Apparel Categories (Balanced)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114425" y="1466850"/>
            <a:ext cx="4820602" cy="238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500" i="0" u="none">
                <a:solidFill>
                  <a:srgbClr val="1E293B"/>
                </a:solidFill>
                <a:latin typeface="Plus Jakarta Sans"/>
              </a:rPr>
              <a:t>Benchmark Dataset Profile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050" y="1800225"/>
            <a:ext cx="4924425" cy="664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b="0" sz="1125" i="0" u="none">
                <a:solidFill>
                  <a:srgbClr val="475569"/>
                </a:solidFill>
                <a:latin typeface="Inter"/>
              </a:rPr>
              <a:t>Fashion-MNIST serves as a direct drop-in replacement for classic MNIST, offering higher visual complexity across 10 distinct apparel categories.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2925" y="3283743"/>
            <a:ext cx="2001887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544812" y="3283743"/>
            <a:ext cx="337021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76975" y="1257300"/>
            <a:ext cx="5372100" cy="26479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734175" y="4286250"/>
            <a:ext cx="4940617" cy="2000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200" i="0" u="none">
                <a:solidFill>
                  <a:srgbClr val="6D28D9"/>
                </a:solidFill>
                <a:latin typeface="Plus Jakarta Sans"/>
              </a:rPr>
              <a:t>10 Apparel Categories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6525" y="4581525"/>
            <a:ext cx="4953000" cy="191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11"/>
              </a:lnSpc>
            </a:pPr>
            <a:r>
              <a:rPr b="0" sz="975" i="0" u="none">
                <a:solidFill>
                  <a:srgbClr val="5B21B6"/>
                </a:solidFill>
                <a:latin typeface="Inter"/>
              </a:rPr>
              <a:t>T-shirt/top, Trouser, Pullover, Dress, Coat, Sandal, Shirt, Sneaker, Bag, Ankle boot.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1050" y="1490662"/>
            <a:ext cx="238125" cy="19050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542925" y="3683793"/>
            <a:ext cx="200188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44812" y="3683793"/>
            <a:ext cx="337021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2925" y="4083843"/>
            <a:ext cx="200188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544812" y="4083843"/>
            <a:ext cx="337021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2925" y="4483893"/>
            <a:ext cx="200188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544812" y="4483893"/>
            <a:ext cx="337021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86525" y="4310062"/>
            <a:ext cx="152400" cy="1524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33400" y="457200"/>
            <a:ext cx="11658600" cy="4286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Plus Jakarta Sans"/>
              </a:rPr>
              <a:t>Dataset Specification: Fashion-MNIST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33400" y="1000125"/>
            <a:ext cx="111252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1247775"/>
            <a:ext cx="5391150" cy="27970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7450" y="1247775"/>
            <a:ext cx="5391150" cy="30575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2475" y="1800225"/>
            <a:ext cx="4953000" cy="18731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49780" y="528637"/>
            <a:ext cx="1508819" cy="2667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66800" y="1466850"/>
            <a:ext cx="4870608" cy="238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500" i="0" u="none">
                <a:solidFill>
                  <a:srgbClr val="1E293B"/>
                </a:solidFill>
                <a:latin typeface="Plus Jakarta Sans"/>
              </a:rPr>
              <a:t>Deep MLP Topology (&gt;6 Trainable Layers)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15100" y="1466850"/>
            <a:ext cx="5170646" cy="238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500" i="0" u="none">
                <a:solidFill>
                  <a:srgbClr val="1E293B"/>
                </a:solidFill>
                <a:latin typeface="Plus Jakarta Sans"/>
              </a:rPr>
              <a:t>Controlled Experimental Setup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15100" y="1800225"/>
            <a:ext cx="4924425" cy="442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b="0" sz="1125" i="0" u="none">
                <a:solidFill>
                  <a:srgbClr val="475569"/>
                </a:solidFill>
                <a:latin typeface="Inter"/>
              </a:rPr>
              <a:t>To rigorously measure the isolated impact of Batch Normalization, two identical architectures were constructed: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2475" y="1490662"/>
            <a:ext cx="219075" cy="1905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52500" y="2229742"/>
            <a:ext cx="123825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57"/>
              </a:lnSpc>
            </a:pPr>
            <a:r>
              <a:rPr b="1" sz="975" i="0" u="none">
                <a:solidFill>
                  <a:srgbClr val="A855F7"/>
                </a:solidFill>
                <a:latin typeface="Fira Code"/>
              </a:rP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52525" y="2229742"/>
            <a:ext cx="10668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57"/>
              </a:lnSpc>
            </a:pPr>
            <a:r>
              <a:rPr b="0" sz="975" i="0" u="none">
                <a:solidFill>
                  <a:srgbClr val="F43F5E"/>
                </a:solidFill>
                <a:latin typeface="Fira Code SemiBold"/>
              </a:rPr>
              <a:t>Linear Layer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2500" y="2440185"/>
            <a:ext cx="123825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57"/>
              </a:lnSpc>
            </a:pPr>
            <a:r>
              <a:rPr b="1" sz="975" i="0" u="none">
                <a:solidFill>
                  <a:srgbClr val="A855F7"/>
                </a:solidFill>
                <a:latin typeface="Fira Code"/>
              </a:rP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2525" y="2440185"/>
            <a:ext cx="10668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57"/>
              </a:lnSpc>
            </a:pPr>
            <a:r>
              <a:rPr b="0" sz="975" i="0" u="none">
                <a:solidFill>
                  <a:srgbClr val="F43F5E"/>
                </a:solidFill>
                <a:latin typeface="Fira Code SemiBold"/>
              </a:rPr>
              <a:t>Linear Layer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2500" y="2650628"/>
            <a:ext cx="123825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57"/>
              </a:lnSpc>
            </a:pPr>
            <a:r>
              <a:rPr b="1" sz="975" i="0" u="none">
                <a:solidFill>
                  <a:srgbClr val="A855F7"/>
                </a:solidFill>
                <a:latin typeface="Fira Code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52525" y="2650628"/>
            <a:ext cx="10668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57"/>
              </a:lnSpc>
            </a:pPr>
            <a:r>
              <a:rPr b="0" sz="975" i="0" u="none">
                <a:solidFill>
                  <a:srgbClr val="F43F5E"/>
                </a:solidFill>
                <a:latin typeface="Fira Code SemiBold"/>
              </a:rPr>
              <a:t>Linear Layer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2500" y="2861071"/>
            <a:ext cx="123825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57"/>
              </a:lnSpc>
            </a:pPr>
            <a:r>
              <a:rPr b="1" sz="975" i="0" u="none">
                <a:solidFill>
                  <a:srgbClr val="A855F7"/>
                </a:solidFill>
                <a:latin typeface="Fira Code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52525" y="2861071"/>
            <a:ext cx="10668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57"/>
              </a:lnSpc>
            </a:pPr>
            <a:r>
              <a:rPr b="0" sz="975" i="0" u="none">
                <a:solidFill>
                  <a:srgbClr val="F43F5E"/>
                </a:solidFill>
                <a:latin typeface="Fira Code SemiBold"/>
              </a:rPr>
              <a:t>Linear Layer 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2500" y="3071514"/>
            <a:ext cx="123825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57"/>
              </a:lnSpc>
            </a:pPr>
            <a:r>
              <a:rPr b="1" sz="975" i="0" u="none">
                <a:solidFill>
                  <a:srgbClr val="A855F7"/>
                </a:solidFill>
                <a:latin typeface="Fira Code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2525" y="3071514"/>
            <a:ext cx="10668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57"/>
              </a:lnSpc>
            </a:pPr>
            <a:r>
              <a:rPr b="0" sz="975" i="0" u="none">
                <a:solidFill>
                  <a:srgbClr val="F43F5E"/>
                </a:solidFill>
                <a:latin typeface="Fira Code SemiBold"/>
              </a:rPr>
              <a:t>Linear Layer 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2500" y="3281957"/>
            <a:ext cx="123825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57"/>
              </a:lnSpc>
            </a:pPr>
            <a:r>
              <a:rPr b="1" sz="975" i="0" u="none">
                <a:solidFill>
                  <a:srgbClr val="A855F7"/>
                </a:solidFill>
                <a:latin typeface="Fira Code"/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52525" y="3281957"/>
            <a:ext cx="10668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57"/>
              </a:lnSpc>
            </a:pPr>
            <a:r>
              <a:rPr b="0" sz="975" i="0" u="none">
                <a:solidFill>
                  <a:srgbClr val="F43F5E"/>
                </a:solidFill>
                <a:latin typeface="Fira Code SemiBold"/>
              </a:rPr>
              <a:t>Linear Layer 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81800" y="2357437"/>
            <a:ext cx="4657725" cy="442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b="1" sz="1125" i="0" u="none">
                <a:solidFill>
                  <a:srgbClr val="334155"/>
                </a:solidFill>
                <a:latin typeface="Inter"/>
              </a:rPr>
              <a:t>Model A (No BatchNorm):</a:t>
            </a:r>
            <a:r>
              <a:rPr b="0" sz="1125" i="0" u="none">
                <a:solidFill>
                  <a:srgbClr val="334155"/>
                </a:solidFill>
                <a:latin typeface="Inter"/>
              </a:rPr>
              <a:t> Standard Linear layers followed directly by ReLU non-linear activation functions.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81800" y="2933700"/>
            <a:ext cx="4657725" cy="442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b="1" sz="1125" i="0" u="none">
                <a:solidFill>
                  <a:srgbClr val="334155"/>
                </a:solidFill>
                <a:latin typeface="Inter"/>
              </a:rPr>
              <a:t>Model B (With BatchNorm):</a:t>
            </a:r>
            <a:r>
              <a:rPr b="0" sz="1125" i="0" u="none">
                <a:solidFill>
                  <a:srgbClr val="334155"/>
                </a:solidFill>
                <a:latin typeface="Inter"/>
              </a:rPr>
              <a:t> `nn.BatchNorm1d` inserted after every Linear projection and before ReLU activation.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81800" y="3509962"/>
            <a:ext cx="4657725" cy="442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b="1" sz="1125" i="0" u="none">
                <a:solidFill>
                  <a:srgbClr val="334155"/>
                </a:solidFill>
                <a:latin typeface="Inter"/>
              </a:rPr>
              <a:t>Consistency:</a:t>
            </a:r>
            <a:r>
              <a:rPr b="0" sz="1125" i="0" u="none">
                <a:solidFill>
                  <a:srgbClr val="334155"/>
                </a:solidFill>
                <a:latin typeface="Inter"/>
              </a:rPr>
              <a:t> Both models share identical weight initializations, Adam optimizer parameters, batch sizes, and learning rates.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3400" y="457200"/>
            <a:ext cx="11658600" cy="4286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Plus Jakarta Sans"/>
              </a:rPr>
              <a:t>Deep Network Architecture Topology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33400" y="1000125"/>
            <a:ext cx="111252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15100" y="2376487"/>
            <a:ext cx="104775" cy="133350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15100" y="2952750"/>
            <a:ext cx="104775" cy="133350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15100" y="3529012"/>
            <a:ext cx="104775" cy="1333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1621631"/>
            <a:ext cx="5467350" cy="198596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1250" y="1621631"/>
            <a:ext cx="5467350" cy="198596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400" y="3950493"/>
            <a:ext cx="5467350" cy="207615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91250" y="3950493"/>
            <a:ext cx="5467350" cy="207615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2475" y="2174081"/>
            <a:ext cx="5029200" cy="6762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10325" y="2174081"/>
            <a:ext cx="5029200" cy="6762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2475" y="4502943"/>
            <a:ext cx="5029200" cy="766464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10325" y="4502943"/>
            <a:ext cx="5029200" cy="539353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89381" y="528637"/>
            <a:ext cx="1369218" cy="2667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33400" y="1247775"/>
            <a:ext cx="11125200" cy="221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b="0" sz="1125" i="0" u="none">
                <a:solidFill>
                  <a:srgbClr val="475569"/>
                </a:solidFill>
                <a:latin typeface="Inter"/>
              </a:rPr>
              <a:t>For a mini-batch containing values of activation , Batch Normalization executes four sequential operations: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676400" y="1314450"/>
            <a:ext cx="182612" cy="952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649587" y="1343025"/>
            <a:ext cx="111174" cy="6667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151411" y="1343025"/>
            <a:ext cx="71437" cy="6667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52475" y="1840706"/>
            <a:ext cx="5280660" cy="238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500" i="0" u="none">
                <a:solidFill>
                  <a:srgbClr val="1E293B"/>
                </a:solidFill>
                <a:latin typeface="Plus Jakarta Sans"/>
              </a:rPr>
              <a:t>1. Mini-Batch Mean Calculation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2475" y="2945606"/>
            <a:ext cx="5029200" cy="442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b="0" sz="1125" i="0" u="none">
                <a:solidFill>
                  <a:srgbClr val="475569"/>
                </a:solidFill>
                <a:latin typeface="Inter"/>
              </a:rPr>
              <a:t>Computes the mean activation across all samples in the current mini-batch.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0325" y="1840706"/>
            <a:ext cx="5280660" cy="238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500" i="0" u="none">
                <a:solidFill>
                  <a:srgbClr val="1E293B"/>
                </a:solidFill>
                <a:latin typeface="Plus Jakarta Sans"/>
              </a:rPr>
              <a:t>2. Mini-Batch Variance Calculation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0325" y="2945606"/>
            <a:ext cx="5029200" cy="221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b="0" sz="1125" i="0" u="none">
                <a:solidFill>
                  <a:srgbClr val="475569"/>
                </a:solidFill>
                <a:latin typeface="Inter"/>
              </a:rPr>
              <a:t>Measures activation dispersion across the mini-batch.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2475" y="4169568"/>
            <a:ext cx="5280660" cy="238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500" i="0" u="none">
                <a:solidFill>
                  <a:srgbClr val="1E293B"/>
                </a:solidFill>
                <a:latin typeface="Plus Jakarta Sans"/>
              </a:rPr>
              <a:t>3. Activation Normalization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2475" y="5364658"/>
            <a:ext cx="5029200" cy="442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b="0" sz="1125" i="0" u="none">
                <a:solidFill>
                  <a:srgbClr val="475569"/>
                </a:solidFill>
                <a:latin typeface="Inter"/>
              </a:rPr>
              <a:t>Standardizes distribution to zero mean and unit variance ( prevents division by zero).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0325" y="4169568"/>
            <a:ext cx="5280660" cy="238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500" i="0" u="none">
                <a:solidFill>
                  <a:srgbClr val="1E293B"/>
                </a:solidFill>
                <a:latin typeface="Plus Jakarta Sans"/>
              </a:rPr>
              <a:t>4. Scale and Shift Transformation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0325" y="5137546"/>
            <a:ext cx="5029200" cy="442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b="0" sz="1125" i="0" u="none">
                <a:solidFill>
                  <a:srgbClr val="475569"/>
                </a:solidFill>
                <a:latin typeface="Inter"/>
              </a:rPr>
              <a:t>Applies learnable parameters and to restore representation capacity if needed.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780109" y="2336006"/>
            <a:ext cx="1002506" cy="352425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063507" y="2336006"/>
            <a:ext cx="1751260" cy="352425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831157" y="4664868"/>
            <a:ext cx="900261" cy="442614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695825" y="5459908"/>
            <a:ext cx="60126" cy="66675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517433" y="4664868"/>
            <a:ext cx="843408" cy="215503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429625" y="5232796"/>
            <a:ext cx="63251" cy="95250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816726" y="5204221"/>
            <a:ext cx="72776" cy="123825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533400" y="457200"/>
            <a:ext cx="11658600" cy="4286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Plus Jakarta Sans"/>
              </a:rPr>
              <a:t>Mathematical Formulation of Batch Norm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33400" y="1000125"/>
            <a:ext cx="111252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2876550"/>
            <a:ext cx="5391150" cy="33718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7450" y="2876550"/>
            <a:ext cx="5391150" cy="33718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64080" y="528637"/>
            <a:ext cx="1394519" cy="26670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33400" y="1247775"/>
          <a:ext cx="11106146" cy="13239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2513855"/>
                <a:gridCol w="1416248"/>
                <a:gridCol w="1534269"/>
                <a:gridCol w="2030015"/>
                <a:gridCol w="1557783"/>
                <a:gridCol w="2053976"/>
              </a:tblGrid>
              <a:tr h="441325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Model Configuration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Epoch 1 Loss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Epoch 10 Loss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10-Epoch Accuracy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Epoch 20 Loss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20-Epoch Accuracy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</a:tr>
              <a:tr h="441325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334155"/>
                          </a:solidFill>
                          <a:latin typeface="Inter"/>
                        </a:rPr>
                        <a:t>Model A: No BatchNorm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Inter"/>
                        </a:rPr>
                        <a:t>0.6164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Inter"/>
                        </a:rPr>
                        <a:t>0.2402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Inter"/>
                        </a:rPr>
                        <a:t>88.75%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Inter"/>
                        </a:rPr>
                        <a:t>0.1733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Inter"/>
                        </a:rPr>
                        <a:t>88.75%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41325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334155"/>
                          </a:solidFill>
                          <a:latin typeface="Inter"/>
                        </a:rPr>
                        <a:t>Model B: With BatchNorm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Inter"/>
                        </a:rPr>
                        <a:t>0.5523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Inter"/>
                        </a:rPr>
                        <a:t>0.2091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Inter"/>
                        </a:rPr>
                        <a:t>89.57%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Inter"/>
                        </a:rPr>
                        <a:t>0.1199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Inter"/>
                        </a:rPr>
                        <a:t>89.57%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42925" y="1695450"/>
            <a:ext cx="2513855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056780" y="1695450"/>
            <a:ext cx="1416248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73029" y="1695450"/>
            <a:ext cx="1534269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07298" y="1695450"/>
            <a:ext cx="2030015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37314" y="1695450"/>
            <a:ext cx="1557783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595098" y="1695450"/>
            <a:ext cx="2053976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2925" y="2095500"/>
            <a:ext cx="251385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056780" y="2095500"/>
            <a:ext cx="141624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73029" y="2095500"/>
            <a:ext cx="153426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07298" y="2095500"/>
            <a:ext cx="203001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37314" y="2095500"/>
            <a:ext cx="155778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595098" y="2095500"/>
            <a:ext cx="205397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5375" y="3095625"/>
            <a:ext cx="4840605" cy="238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500" i="0" u="none">
                <a:solidFill>
                  <a:srgbClr val="1E293B"/>
                </a:solidFill>
                <a:latin typeface="Plus Jakarta Sans"/>
              </a:rPr>
              <a:t>Loss Reduction Performance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1050" y="3429000"/>
            <a:ext cx="4924425" cy="664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b="0" sz="1125" i="0" u="none">
                <a:solidFill>
                  <a:srgbClr val="475569"/>
                </a:solidFill>
                <a:latin typeface="Inter"/>
              </a:rPr>
              <a:t>At 20 epochs, Batch Normalization reduced training loss to </a:t>
            </a:r>
            <a:r>
              <a:rPr b="1" sz="1125" i="0" u="none">
                <a:solidFill>
                  <a:srgbClr val="475569"/>
                </a:solidFill>
                <a:latin typeface="Inter"/>
              </a:rPr>
              <a:t>0.1199</a:t>
            </a:r>
            <a:r>
              <a:rPr b="0" sz="1125" i="0" u="none">
                <a:solidFill>
                  <a:srgbClr val="475569"/>
                </a:solidFill>
                <a:latin typeface="Inter"/>
              </a:rPr>
              <a:t> compared to </a:t>
            </a:r>
            <a:r>
              <a:rPr b="1" sz="1125" i="0" u="none">
                <a:solidFill>
                  <a:srgbClr val="475569"/>
                </a:solidFill>
                <a:latin typeface="Inter"/>
              </a:rPr>
              <a:t>0.1733</a:t>
            </a:r>
            <a:r>
              <a:rPr b="0" sz="1125" i="0" u="none">
                <a:solidFill>
                  <a:srgbClr val="475569"/>
                </a:solidFill>
                <a:latin typeface="Inter"/>
              </a:rPr>
              <a:t> without BatchNorm—representing a </a:t>
            </a:r>
            <a:r>
              <a:rPr b="1" sz="1125" i="0" u="none">
                <a:solidFill>
                  <a:srgbClr val="475569"/>
                </a:solidFill>
                <a:latin typeface="Inter"/>
              </a:rPr>
              <a:t>30.8% reduction in training error</a:t>
            </a:r>
            <a:r>
              <a:rPr b="0" sz="1125" i="0" u="none">
                <a:solidFill>
                  <a:srgbClr val="475569"/>
                </a:solidFill>
                <a:latin typeface="Inter"/>
              </a:rPr>
              <a:t>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81800" y="3095625"/>
            <a:ext cx="4890611" cy="238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500" i="0" u="none">
                <a:solidFill>
                  <a:srgbClr val="1E293B"/>
                </a:solidFill>
                <a:latin typeface="Plus Jakarta Sans"/>
              </a:rPr>
              <a:t>Convergence Velocity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5100" y="3429000"/>
            <a:ext cx="4924425" cy="664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b="0" sz="1125" i="0" u="none">
                <a:solidFill>
                  <a:srgbClr val="475569"/>
                </a:solidFill>
                <a:latin typeface="Inter"/>
              </a:rPr>
              <a:t>Model B with BatchNorm achieved an epoch 1 loss of </a:t>
            </a:r>
            <a:r>
              <a:rPr b="1" sz="1125" i="0" u="none">
                <a:solidFill>
                  <a:srgbClr val="475569"/>
                </a:solidFill>
                <a:latin typeface="Inter"/>
              </a:rPr>
              <a:t>0.5523</a:t>
            </a:r>
            <a:r>
              <a:rPr b="0" sz="1125" i="0" u="none">
                <a:solidFill>
                  <a:srgbClr val="475569"/>
                </a:solidFill>
                <a:latin typeface="Inter"/>
              </a:rPr>
              <a:t>, reaching a training loss level in 5 epochs that Model A required nearly 8 epochs to reach.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1050" y="3119437"/>
            <a:ext cx="219075" cy="19050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15100" y="3119437"/>
            <a:ext cx="171450" cy="19050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78748" y="2219325"/>
            <a:ext cx="657225" cy="22860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08764" y="2219325"/>
            <a:ext cx="571500" cy="228600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66548" y="2219325"/>
            <a:ext cx="657225" cy="2286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533400" y="457200"/>
            <a:ext cx="11658600" cy="4286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Plus Jakarta Sans"/>
              </a:rPr>
              <a:t>Task 2: Experimental Results &amp; Loss Profiles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33400" y="1000125"/>
            <a:ext cx="111252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1247775"/>
            <a:ext cx="3555950" cy="23050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7950" y="1247775"/>
            <a:ext cx="3555950" cy="23050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02500" y="1247775"/>
            <a:ext cx="3556099" cy="23050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91154" y="528637"/>
            <a:ext cx="1467445" cy="2667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2475" y="3981450"/>
            <a:ext cx="142875" cy="1905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28700" y="3962400"/>
            <a:ext cx="10410825" cy="4131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7"/>
              </a:lnSpc>
            </a:pPr>
            <a:r>
              <a:rPr b="1" sz="1050" i="0" u="none">
                <a:solidFill>
                  <a:srgbClr val="166534"/>
                </a:solidFill>
                <a:latin typeface="Inter"/>
              </a:rPr>
              <a:t>Key Takeaway:</a:t>
            </a:r>
            <a:r>
              <a:rPr b="0" sz="1050" i="0" u="none">
                <a:solidFill>
                  <a:srgbClr val="166534"/>
                </a:solidFill>
                <a:latin typeface="Inter"/>
              </a:rPr>
              <a:t> Batch Normalization acts primarily as an optimization stabilizer rather than a raw accuracy booster. It enables deeper architectures to be trained robustly without requiring delicate hyperparameter tuning.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1525" y="1485900"/>
            <a:ext cx="457200" cy="4572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1525" y="2095500"/>
            <a:ext cx="3233685" cy="238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500" i="0" u="none">
                <a:solidFill>
                  <a:srgbClr val="1E293B"/>
                </a:solidFill>
                <a:latin typeface="Plus Jakarta Sans"/>
              </a:rPr>
              <a:t>1. Loss Landscape Smoothing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1525" y="2428875"/>
            <a:ext cx="3079700" cy="885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b="0" sz="1125" i="0" u="none">
                <a:solidFill>
                  <a:srgbClr val="475569"/>
                </a:solidFill>
                <a:latin typeface="Inter"/>
              </a:rPr>
              <a:t>BatchNorm smooths the loss surface gradients (Santurkar et al., 2018), making gradient steps more predictable and preventing wild directional oscillations.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56075" y="1485900"/>
            <a:ext cx="457200" cy="4572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556075" y="2095500"/>
            <a:ext cx="3233685" cy="238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500" i="0" u="none">
                <a:solidFill>
                  <a:srgbClr val="1E293B"/>
                </a:solidFill>
                <a:latin typeface="Plus Jakarta Sans"/>
              </a:rPr>
              <a:t>2. Gradient Flow Preservation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6075" y="2428875"/>
            <a:ext cx="3079700" cy="885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b="0" sz="1125" i="0" u="none">
                <a:solidFill>
                  <a:srgbClr val="475569"/>
                </a:solidFill>
                <a:latin typeface="Inter"/>
              </a:rPr>
              <a:t>By keeping intermediate layer activations bounded, gradients do not explode or vanish as backpropagation traverses all 6 hidden layers.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40625" y="1485900"/>
            <a:ext cx="457200" cy="4572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340625" y="2095500"/>
            <a:ext cx="3233841" cy="238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500" i="0" u="none">
                <a:solidFill>
                  <a:srgbClr val="1E293B"/>
                </a:solidFill>
                <a:latin typeface="Plus Jakarta Sans"/>
              </a:rPr>
              <a:t>3. Optimization Efficiency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40625" y="2428875"/>
            <a:ext cx="3079849" cy="885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b="0" sz="1125" i="0" u="none">
                <a:solidFill>
                  <a:srgbClr val="475569"/>
                </a:solidFill>
                <a:latin typeface="Inter"/>
              </a:rPr>
              <a:t>While final classification accuracy showed a modest increase (+0.82%), the primary value of BatchNorm lies in its dramatic optimization efficiency and loss reduction.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66775" y="1609725"/>
            <a:ext cx="266700" cy="2095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651325" y="1609725"/>
            <a:ext cx="266700" cy="20955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464450" y="1609725"/>
            <a:ext cx="209550" cy="20955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33400" y="457200"/>
            <a:ext cx="11658600" cy="4286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Plus Jakarta Sans"/>
              </a:rPr>
              <a:t>Optimization &amp; Convergence Stability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33400" y="1000125"/>
            <a:ext cx="111252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4010025"/>
            <a:ext cx="11125200" cy="3429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59814" y="528637"/>
            <a:ext cx="998785" cy="26670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33400" y="1247775"/>
          <a:ext cx="11106148" cy="24574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2773560"/>
                <a:gridCol w="4044850"/>
                <a:gridCol w="4287738"/>
              </a:tblGrid>
              <a:tr h="409575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Dimension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Task 1: Transfer Learning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Task 2: Batch Normalization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</a:tr>
              <a:tr h="409575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334155"/>
                          </a:solidFill>
                          <a:latin typeface="Inter"/>
                        </a:rPr>
                        <a:t>Primary Challenge Addressed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Inter"/>
                        </a:rPr>
                        <a:t>Data scarcity on small datasets (~1k samples)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Inter"/>
                        </a:rPr>
                        <a:t>Internal Covariate Shift &amp; unstable deep training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09575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334155"/>
                          </a:solidFill>
                          <a:latin typeface="Inter"/>
                        </a:rPr>
                        <a:t>Core Mechanism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Inter"/>
                        </a:rPr>
                        <a:t>Reusing pre-trained ImageNet representations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Inter"/>
                        </a:rPr>
                        <a:t>Mini-batch activation mean/variance normalization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409575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334155"/>
                          </a:solidFill>
                          <a:latin typeface="Inter"/>
                        </a:rPr>
                        <a:t>Impact on Accuracy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334155"/>
                          </a:solidFill>
                          <a:latin typeface="Inter"/>
                        </a:rPr>
                        <a:t>Massive Increase (+38.0%)</a:t>
                      </a:r>
                      <a:r>
                        <a:rPr b="0" sz="1050" i="0" u="none">
                          <a:solidFill>
                            <a:srgbClr val="334155"/>
                          </a:solidFill>
                          <a:latin typeface="Inter"/>
                        </a:rPr>
                        <a:t> (61.5% → 99.5%)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334155"/>
                          </a:solidFill>
                          <a:latin typeface="Inter"/>
                        </a:rPr>
                        <a:t>Modest Increase (+0.82%)</a:t>
                      </a:r>
                      <a:r>
                        <a:rPr b="0" sz="1050" i="0" u="none">
                          <a:solidFill>
                            <a:srgbClr val="334155"/>
                          </a:solidFill>
                          <a:latin typeface="Inter"/>
                        </a:rPr>
                        <a:t> (88.75% → 89.57%)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09575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334155"/>
                          </a:solidFill>
                          <a:latin typeface="Inter"/>
                        </a:rPr>
                        <a:t>Impact on Training Loss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Inter"/>
                        </a:rPr>
                        <a:t>Drastic drop from 0.5838 to 0.0038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Inter"/>
                        </a:rPr>
                        <a:t>30.8% error reduction (0.1733 → 0.1199)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409575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334155"/>
                          </a:solidFill>
                          <a:latin typeface="Inter"/>
                        </a:rPr>
                        <a:t>Primary Operational Benefit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Inter"/>
                        </a:rPr>
                        <a:t>Eliminates high sample complexity requirements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Inter"/>
                        </a:rPr>
                        <a:t>Stabilizes gradients &amp; enables higher learning rates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42925" y="1695450"/>
            <a:ext cx="277356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316485" y="1695450"/>
            <a:ext cx="404485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61336" y="1695450"/>
            <a:ext cx="4287738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4375" y="4124325"/>
            <a:ext cx="142875" cy="123825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42925" y="2095500"/>
            <a:ext cx="277356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16485" y="2095500"/>
            <a:ext cx="40448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61336" y="2095500"/>
            <a:ext cx="428773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2925" y="2495550"/>
            <a:ext cx="277356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16485" y="2495550"/>
            <a:ext cx="40448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61336" y="2495550"/>
            <a:ext cx="428773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2925" y="2895600"/>
            <a:ext cx="277356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16485" y="2895600"/>
            <a:ext cx="40448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61336" y="2895600"/>
            <a:ext cx="428773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2925" y="3295650"/>
            <a:ext cx="277356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316485" y="3295650"/>
            <a:ext cx="40448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61336" y="3295650"/>
            <a:ext cx="428773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3400" y="457200"/>
            <a:ext cx="11658600" cy="4286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Plus Jakarta Sans"/>
              </a:rPr>
              <a:t>Comparative Synthesis of Key Techniques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33400" y="1000125"/>
            <a:ext cx="111252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1247775"/>
            <a:ext cx="2652712" cy="2526506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7562" y="1247775"/>
            <a:ext cx="2652712" cy="252650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1725" y="1247775"/>
            <a:ext cx="2652712" cy="2526506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05887" y="1247775"/>
            <a:ext cx="2652712" cy="2526506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85958" y="528637"/>
            <a:ext cx="1372641" cy="2667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2475" y="4202906"/>
            <a:ext cx="238125" cy="1905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23950" y="4183856"/>
            <a:ext cx="10315575" cy="4131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7"/>
              </a:lnSpc>
            </a:pPr>
            <a:r>
              <a:rPr b="1" sz="1050" i="0" u="none">
                <a:solidFill>
                  <a:srgbClr val="334155"/>
                </a:solidFill>
                <a:latin typeface="Inter"/>
              </a:rPr>
              <a:t>Summary Conclusion:</a:t>
            </a:r>
            <a:r>
              <a:rPr b="0" sz="1050" i="0" u="none">
                <a:solidFill>
                  <a:srgbClr val="334155"/>
                </a:solidFill>
                <a:latin typeface="Inter"/>
              </a:rPr>
              <a:t> Transfer Learning solves the </a:t>
            </a:r>
            <a:r>
              <a:rPr b="0" sz="1050" i="1" u="none">
                <a:solidFill>
                  <a:srgbClr val="334155"/>
                </a:solidFill>
                <a:latin typeface="Inter"/>
              </a:rPr>
              <a:t>Data Availability Problem</a:t>
            </a:r>
            <a:r>
              <a:rPr b="0" sz="1050" i="0" u="none">
                <a:solidFill>
                  <a:srgbClr val="334155"/>
                </a:solidFill>
                <a:latin typeface="Inter"/>
              </a:rPr>
              <a:t>, while Batch Normalization solves the </a:t>
            </a:r>
            <a:r>
              <a:rPr b="0" sz="1050" i="1" u="none">
                <a:solidFill>
                  <a:srgbClr val="334155"/>
                </a:solidFill>
                <a:latin typeface="Inter"/>
              </a:rPr>
              <a:t>Deep Optimization Problem</a:t>
            </a:r>
            <a:r>
              <a:rPr b="0" sz="1050" i="0" u="none">
                <a:solidFill>
                  <a:srgbClr val="334155"/>
                </a:solidFill>
                <a:latin typeface="Inter"/>
              </a:rPr>
              <a:t>. Together, they form the cornerstone of modern deep learning pipelines.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1525" y="1485900"/>
            <a:ext cx="457200" cy="4572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1525" y="2095500"/>
            <a:ext cx="2285285" cy="238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500" i="0" u="none">
                <a:solidFill>
                  <a:srgbClr val="1E293B"/>
                </a:solidFill>
                <a:latin typeface="Plus Jakarta Sans"/>
              </a:rPr>
              <a:t>Small Datasets (&lt;10k)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1525" y="2428875"/>
            <a:ext cx="2176462" cy="11072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b="0" sz="1125" i="0" u="none">
                <a:solidFill>
                  <a:srgbClr val="475569"/>
                </a:solidFill>
                <a:latin typeface="Inter"/>
              </a:rPr>
              <a:t>Never train CNNs from scratch. Always use pre-trained backbones like ResNet or ConvNeXt to prevent severe overfitting.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595687" y="1485900"/>
            <a:ext cx="457200" cy="4572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595687" y="2095500"/>
            <a:ext cx="2285285" cy="238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500" i="0" u="none">
                <a:solidFill>
                  <a:srgbClr val="1E293B"/>
                </a:solidFill>
                <a:latin typeface="Plus Jakarta Sans"/>
              </a:rPr>
              <a:t>Freeze Early Layers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95687" y="2428875"/>
            <a:ext cx="2176462" cy="11072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b="0" sz="1125" i="0" u="none">
                <a:solidFill>
                  <a:srgbClr val="475569"/>
                </a:solidFill>
                <a:latin typeface="Inter"/>
              </a:rPr>
              <a:t>Keep initial convolutional layers frozen as general visual feature extractors. Unfreeze upper layers only if target domain differs significantly.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19850" y="1485900"/>
            <a:ext cx="457200" cy="4572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419850" y="2095500"/>
            <a:ext cx="2285285" cy="238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500" i="0" u="none">
                <a:solidFill>
                  <a:srgbClr val="1E293B"/>
                </a:solidFill>
                <a:latin typeface="Plus Jakarta Sans"/>
              </a:rPr>
              <a:t>Always Use BatchNorm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850" y="2428875"/>
            <a:ext cx="2176462" cy="11072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b="0" sz="1125" i="0" u="none">
                <a:solidFill>
                  <a:srgbClr val="475569"/>
                </a:solidFill>
                <a:latin typeface="Inter"/>
              </a:rPr>
              <a:t>Insert BatchNorm layers after linear projections in deep networks (&gt;4 layers) to ensure smooth gradient flow and faster convergence.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244012" y="1485900"/>
            <a:ext cx="457200" cy="4572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9244012" y="2095500"/>
            <a:ext cx="2285285" cy="238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500" i="0" u="none">
                <a:solidFill>
                  <a:srgbClr val="1E293B"/>
                </a:solidFill>
                <a:latin typeface="Plus Jakarta Sans"/>
              </a:rPr>
              <a:t>Optimizer Selection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44012" y="2428875"/>
            <a:ext cx="2176462" cy="11072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b="0" sz="1125" i="0" u="none">
                <a:solidFill>
                  <a:srgbClr val="475569"/>
                </a:solidFill>
                <a:latin typeface="Inter"/>
              </a:rPr>
              <a:t>Pair Transfer Learning with Adam/AdamW optimizers using lower learning rates (1e-4) for fine-tuning to protect pre-trained weights.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09637" y="1609725"/>
            <a:ext cx="180975" cy="20955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733800" y="1609725"/>
            <a:ext cx="180975" cy="20955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543675" y="1609725"/>
            <a:ext cx="209550" cy="20955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339262" y="1609725"/>
            <a:ext cx="266700" cy="20955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533400" y="457200"/>
            <a:ext cx="11658600" cy="4286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Plus Jakarta Sans"/>
              </a:rPr>
              <a:t>Engineering Guidelines for Practitioners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33400" y="1000125"/>
            <a:ext cx="111252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1975" y="1862137"/>
            <a:ext cx="3448050" cy="381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0" y="4310062"/>
            <a:ext cx="7620000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66700" y="2471737"/>
            <a:ext cx="11658600" cy="695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4350" i="0" u="none">
                <a:solidFill>
                  <a:srgbClr val="0F172A"/>
                </a:solidFill>
                <a:latin typeface="Plus Jakarta Sans ExtraBold"/>
              </a:rPr>
              <a:t>Questions &amp;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62250" y="3319462"/>
            <a:ext cx="66675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b="0" sz="1500" i="0" u="none">
                <a:solidFill>
                  <a:srgbClr val="64748B"/>
                </a:solidFill>
                <a:latin typeface="Inter"/>
              </a:rPr>
              <a:t>Thank you for reviewing this project report on Transfer Learning and Batch Normalization.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71875" y="4624387"/>
            <a:ext cx="105727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94A3B8"/>
                </a:solidFill>
                <a:latin typeface="Inter"/>
              </a:rPr>
              <a:t>PROJECT AUTHOR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71875" y="4805362"/>
            <a:ext cx="105727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Inter"/>
              </a:rPr>
              <a:t>Tanush Shoor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3950" y="4624387"/>
            <a:ext cx="212407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94A3B8"/>
                </a:solidFill>
                <a:latin typeface="Inter"/>
              </a:rPr>
              <a:t>EMAIL ADDRESS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3950" y="4805362"/>
            <a:ext cx="212407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4F46E5"/>
                </a:solidFill>
                <a:latin typeface="Inter"/>
              </a:rPr>
              <a:t>tanush.shoor09@gmail.com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62825" y="4624387"/>
            <a:ext cx="125730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94A3B8"/>
                </a:solidFill>
                <a:latin typeface="Inter"/>
              </a:rPr>
              <a:t>COURSE INSTRUCTOR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62825" y="4805362"/>
            <a:ext cx="12573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Inter"/>
              </a:rPr>
              <a:t>Priyansh Saxena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33400" y="1247775"/>
            <a:ext cx="111252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33400" y="2009775"/>
            <a:ext cx="111252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33400" y="2009775"/>
            <a:ext cx="111252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1390650"/>
            <a:ext cx="857250" cy="4762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628775" y="1433512"/>
            <a:ext cx="1002982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334155"/>
                </a:solidFill>
                <a:latin typeface="Inter"/>
              </a:rPr>
              <a:t>https://raw.githubusercontent.com/PacktPublishing/Learning-Computer-Vision-with-TensorFlow/90fc14851730afb5005b20f89f3d62c969e513fa/images/classification.jpg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28775" y="1633537"/>
            <a:ext cx="1002982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334155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github.com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2162175"/>
            <a:ext cx="857250" cy="4762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628775" y="2205037"/>
            <a:ext cx="1002982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334155"/>
                </a:solidFill>
                <a:latin typeface="Inter"/>
              </a:rPr>
              <a:t>https://storage.googleapis.com/tfds-data/visualization/fig/fashion_mnist-3.0.1.png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8775" y="2405062"/>
            <a:ext cx="1002982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334155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www.tensorflow.org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3400" y="457200"/>
            <a:ext cx="11658600" cy="4286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Plus Jakarta Sans"/>
              </a:rPr>
              <a:t>Image Sources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3400" y="1000125"/>
            <a:ext cx="111252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